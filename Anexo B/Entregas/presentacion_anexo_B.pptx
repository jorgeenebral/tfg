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22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77ED1-B152-C76A-8C0A-C5F6FA020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47451B-67DD-E6FE-DCD4-0DA50F61E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79E6F4-24B4-8FA5-85EC-14714CD2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AA8C1-2CE3-37C0-2352-750A6AF77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BD68C-C42B-F71D-3BD0-125E50DE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920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8CFDA-26DA-7517-76F3-F28CCCD6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EB55A5-5E21-3AFA-ABC5-6CAE35691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653D04-384A-953C-E826-ED434201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9C7A98-F0E9-64D4-B2C1-860645B2E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973EA9-D181-D46E-3EF2-E7792837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229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790C58-5B02-D049-76B3-813CC3C39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CE3C6D-4907-C562-2339-912A0498D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50CDED-B77C-38B2-EF90-69E2AA0E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0926DF-ABCF-4B6B-ED15-76D10F1FD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46544-2886-C7B8-7A62-63817DA62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247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6E743-52B9-801E-4D00-CF105F49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1DDB43-6333-C1FA-0250-888EC20B6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E1A208E-712B-D63E-7FC2-71B9FA076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D3FFD5-E82E-902C-6067-0CCE9774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A3F0E6-2EAD-313E-DB92-7A0A0348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54A8898-73DF-E6C0-C644-11648FCE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4631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C7FA3-F8D6-A0F3-BBFE-B4ACA3D78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7A5E3A-2A07-9FEC-DEAB-ECD4B0BAD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12BF5A-AD14-FB82-C9BA-F0E2864EE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E6979DF-18B8-7CCC-0F9E-4EDFDDE8F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E1AD573-7AC9-7045-8A7B-9AE79BCEC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116731B-53C3-9205-DA0C-2F4C30AAE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235B629-D4F8-879E-BCF2-6321AB24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FB5ED72-39E5-8BBD-1E10-CBDA934E6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4536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5EE0B-5E62-C52D-E642-08DB03D2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1839847-73EB-A1F5-5B0D-0AE6A1C4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ACBA1ED-583E-DE5A-8E29-80766F454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78A91E-8701-DE6C-0F27-6FC47185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5023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926EB8-9C35-9117-9D5B-80BC108DD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EB92F2A-2ACF-9F3B-DB0A-EB1B83996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1EB0C0-C76D-4DB6-6406-FF8C02F0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0742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F2F9C-D539-DB1D-EB5A-5BA04503B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498D5-7720-5B98-6DD6-515256AB5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12332E-4205-51C8-D481-A3FA68250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0F9CD5B-3D91-FB8D-B826-632CB6A2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9BA6BA-00F5-DFF4-BE26-C9E96F9A4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EA1420-8959-F200-DBE0-D68E31B62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215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B995F-E5BD-AF67-A0FE-094468DC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361F506-1BE2-051C-0C3B-DA6CE0512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F85D4B3-EF34-09F6-409B-B5A88DD50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9B499B-05E9-4C62-3385-853B936C4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BE660F-D2F3-FF21-3CEE-F1F4F9FF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E504FF-D776-7088-D286-912AD11E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32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B4E90-B924-39A7-42C4-D57264D6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AE5E4A-CCE2-9FFA-8158-5FD1BB795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7FF155-C985-281A-6C8C-888E8BA3E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B4F88E-131B-2813-A22F-22D3DA20E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3B770B-7D10-011B-A24C-0D782E49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431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ABAA51-C195-20D2-53CD-955DCC61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633AF3-EEBF-5F12-C5CB-0E2E9C8B1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79700-FF8A-596F-BE71-6E4D4E486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A1264B-D521-8A69-98D6-AAF318137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A44C3D-6157-EE80-0B18-52FA9C261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862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BECE77-EAC5-903A-8F73-AFE108E50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EF3945-A34D-FAE1-FB09-759E7C1F3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AAD9F5-58C6-176D-71CB-86762E911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074E7-0086-4B37-963D-48E3AA388F6F}" type="datetimeFigureOut">
              <a:rPr lang="es-ES" smtClean="0"/>
              <a:t>10/02/2026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0C50C5-726B-7AC7-B472-4A7A178721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425A50-7137-F076-27DF-13A2B5D90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2C453-6943-429D-93BE-AE16FC20FC8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754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21986B8F-B217-50EA-85A8-E266A04CDC84}"/>
              </a:ext>
            </a:extLst>
          </p:cNvPr>
          <p:cNvSpPr txBox="1">
            <a:spLocks/>
          </p:cNvSpPr>
          <p:nvPr/>
        </p:nvSpPr>
        <p:spPr>
          <a:xfrm>
            <a:off x="288053" y="1071716"/>
            <a:ext cx="11615894" cy="30771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700" dirty="0"/>
              <a:t>Interacciones y Dinámicas en la Aldea Global: Modelado Matemático y Psicosocial de la Guerra Cognitiva en Redes Complejas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BD2376E5-29D1-E47F-11A0-256951EE847B}"/>
              </a:ext>
            </a:extLst>
          </p:cNvPr>
          <p:cNvSpPr txBox="1">
            <a:spLocks/>
          </p:cNvSpPr>
          <p:nvPr/>
        </p:nvSpPr>
        <p:spPr>
          <a:xfrm>
            <a:off x="1524000" y="4641185"/>
            <a:ext cx="9144000" cy="1248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Autor: Jorge Enebral Alonso</a:t>
            </a:r>
          </a:p>
          <a:p>
            <a:r>
              <a:rPr lang="es-ES" dirty="0"/>
              <a:t>Director: David Martín-Corral Calvo</a:t>
            </a:r>
          </a:p>
        </p:txBody>
      </p:sp>
    </p:spTree>
    <p:extLst>
      <p:ext uri="{BB962C8B-B14F-4D97-AF65-F5344CB8AC3E}">
        <p14:creationId xmlns:p14="http://schemas.microsoft.com/office/powerpoint/2010/main" val="1772304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DF09E-54A4-44C0-66C5-1E2F2AE28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E99B9BB-0213-DF52-6EF3-79F4AC999E5A}"/>
              </a:ext>
            </a:extLst>
          </p:cNvPr>
          <p:cNvSpPr txBox="1">
            <a:spLocks/>
          </p:cNvSpPr>
          <p:nvPr/>
        </p:nvSpPr>
        <p:spPr>
          <a:xfrm>
            <a:off x="288053" y="993058"/>
            <a:ext cx="11615894" cy="25855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700" dirty="0"/>
              <a:t>Interacciones y Dinámicas en la </a:t>
            </a:r>
            <a:r>
              <a:rPr lang="es-ES" sz="4700" dirty="0">
                <a:highlight>
                  <a:srgbClr val="FFFF00"/>
                </a:highlight>
              </a:rPr>
              <a:t>Aldea Global</a:t>
            </a:r>
            <a:r>
              <a:rPr lang="es-ES" sz="4700" dirty="0"/>
              <a:t>: </a:t>
            </a:r>
            <a:r>
              <a:rPr lang="es-ES" sz="4700" dirty="0">
                <a:highlight>
                  <a:srgbClr val="00FFFF"/>
                </a:highlight>
              </a:rPr>
              <a:t>Modelado Matemático y Psicosocial </a:t>
            </a:r>
            <a:r>
              <a:rPr lang="es-ES" sz="4700" dirty="0"/>
              <a:t>de la </a:t>
            </a:r>
            <a:r>
              <a:rPr lang="es-ES" sz="4700" dirty="0">
                <a:highlight>
                  <a:srgbClr val="00FF00"/>
                </a:highlight>
              </a:rPr>
              <a:t>Guerra Cognitiva </a:t>
            </a:r>
            <a:r>
              <a:rPr lang="es-ES" sz="4700" dirty="0"/>
              <a:t>en </a:t>
            </a:r>
            <a:r>
              <a:rPr lang="es-ES" sz="4700" dirty="0">
                <a:highlight>
                  <a:srgbClr val="FF0000"/>
                </a:highlight>
              </a:rPr>
              <a:t>Redes Complejas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41152232-1654-51A0-7191-407C2759105D}"/>
              </a:ext>
            </a:extLst>
          </p:cNvPr>
          <p:cNvSpPr txBox="1">
            <a:spLocks/>
          </p:cNvSpPr>
          <p:nvPr/>
        </p:nvSpPr>
        <p:spPr>
          <a:xfrm>
            <a:off x="2829691" y="265471"/>
            <a:ext cx="5763702" cy="977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700" b="1" dirty="0"/>
              <a:t>MOTIVACIÓN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DB116F7-B98F-ED10-4C35-0C545D705BF8}"/>
              </a:ext>
            </a:extLst>
          </p:cNvPr>
          <p:cNvSpPr txBox="1">
            <a:spLocks/>
          </p:cNvSpPr>
          <p:nvPr/>
        </p:nvSpPr>
        <p:spPr>
          <a:xfrm>
            <a:off x="2505226" y="3681822"/>
            <a:ext cx="6412632" cy="12486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700" b="1" dirty="0"/>
              <a:t>ESTADO DE LA CUESTIÓN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FDC2410-BA41-3F56-C6C9-2B9D95FA617A}"/>
              </a:ext>
            </a:extLst>
          </p:cNvPr>
          <p:cNvSpPr txBox="1"/>
          <p:nvPr/>
        </p:nvSpPr>
        <p:spPr>
          <a:xfrm>
            <a:off x="750168" y="5102280"/>
            <a:ext cx="29860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El comportamiento cooperativo se propaga en cascada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8750EFA-3AAD-0B2A-849E-CF3DA3A86870}"/>
              </a:ext>
            </a:extLst>
          </p:cNvPr>
          <p:cNvSpPr txBox="1"/>
          <p:nvPr/>
        </p:nvSpPr>
        <p:spPr>
          <a:xfrm>
            <a:off x="4572000" y="5102280"/>
            <a:ext cx="20249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Modelo de segregación de Schelling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80DCE9D-6F23-52C8-043F-BCE633C6E8E0}"/>
              </a:ext>
            </a:extLst>
          </p:cNvPr>
          <p:cNvSpPr txBox="1"/>
          <p:nvPr/>
        </p:nvSpPr>
        <p:spPr>
          <a:xfrm>
            <a:off x="7620001" y="5102280"/>
            <a:ext cx="3313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Revisión de modelos computacionales de confianza y reputación</a:t>
            </a:r>
          </a:p>
        </p:txBody>
      </p:sp>
    </p:spTree>
    <p:extLst>
      <p:ext uri="{BB962C8B-B14F-4D97-AF65-F5344CB8AC3E}">
        <p14:creationId xmlns:p14="http://schemas.microsoft.com/office/powerpoint/2010/main" val="214171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D7F5F-9EAA-0F4B-5A9C-029452493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549ABA9-37D4-66D8-090F-FAFA8D9CB023}"/>
              </a:ext>
            </a:extLst>
          </p:cNvPr>
          <p:cNvSpPr txBox="1">
            <a:spLocks/>
          </p:cNvSpPr>
          <p:nvPr/>
        </p:nvSpPr>
        <p:spPr>
          <a:xfrm>
            <a:off x="2829691" y="475714"/>
            <a:ext cx="5763702" cy="977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700" b="1" dirty="0"/>
              <a:t>OBJETIVOS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ADB280B-9C9E-59F8-9F36-832199529B25}"/>
              </a:ext>
            </a:extLst>
          </p:cNvPr>
          <p:cNvSpPr txBox="1"/>
          <p:nvPr/>
        </p:nvSpPr>
        <p:spPr>
          <a:xfrm>
            <a:off x="730504" y="2073944"/>
            <a:ext cx="7459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1.) Modelado psicológico de las relaciones humanas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36B74F2-468E-3B23-B57A-1562832DAF86}"/>
              </a:ext>
            </a:extLst>
          </p:cNvPr>
          <p:cNvSpPr txBox="1"/>
          <p:nvPr/>
        </p:nvSpPr>
        <p:spPr>
          <a:xfrm>
            <a:off x="730504" y="2967335"/>
            <a:ext cx="5968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2.) Arquitectura de la aldea global teórica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1FC9CF7-1981-7AC2-634E-45F00486BA8D}"/>
              </a:ext>
            </a:extLst>
          </p:cNvPr>
          <p:cNvSpPr txBox="1"/>
          <p:nvPr/>
        </p:nvSpPr>
        <p:spPr>
          <a:xfrm>
            <a:off x="730504" y="3860726"/>
            <a:ext cx="5968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3.) Desarrollar el modelo computacional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75531E-A706-CF0E-4D9D-D07BFEDE9CC4}"/>
              </a:ext>
            </a:extLst>
          </p:cNvPr>
          <p:cNvSpPr txBox="1"/>
          <p:nvPr/>
        </p:nvSpPr>
        <p:spPr>
          <a:xfrm>
            <a:off x="730503" y="4754117"/>
            <a:ext cx="5968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4.) Analizar resultados de las simulaciones </a:t>
            </a:r>
          </a:p>
        </p:txBody>
      </p:sp>
    </p:spTree>
    <p:extLst>
      <p:ext uri="{BB962C8B-B14F-4D97-AF65-F5344CB8AC3E}">
        <p14:creationId xmlns:p14="http://schemas.microsoft.com/office/powerpoint/2010/main" val="228990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CF03C-4406-AC83-B229-92EB5D48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FF168EE3-9F72-67B5-A5E2-2AF74755F6F5}"/>
              </a:ext>
            </a:extLst>
          </p:cNvPr>
          <p:cNvSpPr txBox="1">
            <a:spLocks/>
          </p:cNvSpPr>
          <p:nvPr/>
        </p:nvSpPr>
        <p:spPr>
          <a:xfrm>
            <a:off x="2829691" y="475714"/>
            <a:ext cx="5763702" cy="977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700" b="1" dirty="0"/>
              <a:t>METODOLOGIA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4C0F94A-6A93-1BA4-CB22-B91637AEA2BE}"/>
              </a:ext>
            </a:extLst>
          </p:cNvPr>
          <p:cNvSpPr txBox="1"/>
          <p:nvPr/>
        </p:nvSpPr>
        <p:spPr>
          <a:xfrm>
            <a:off x="730504" y="2447569"/>
            <a:ext cx="6840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1.) Definir cada semana las tareas objetivo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22E4F04-70FF-B74E-07F7-6F2768507849}"/>
              </a:ext>
            </a:extLst>
          </p:cNvPr>
          <p:cNvSpPr txBox="1"/>
          <p:nvPr/>
        </p:nvSpPr>
        <p:spPr>
          <a:xfrm>
            <a:off x="730504" y="3336667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2.) Para el desarrollo de software usar </a:t>
            </a:r>
            <a:r>
              <a:rPr lang="es-ES" sz="2400" dirty="0" err="1"/>
              <a:t>git</a:t>
            </a:r>
            <a:r>
              <a:rPr lang="es-ES" sz="2400" dirty="0"/>
              <a:t>, WSL, y UV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4CD16B-0D36-8EDB-B3C3-736D2CB4D89B}"/>
              </a:ext>
            </a:extLst>
          </p:cNvPr>
          <p:cNvSpPr txBox="1"/>
          <p:nvPr/>
        </p:nvSpPr>
        <p:spPr>
          <a:xfrm>
            <a:off x="730503" y="4595097"/>
            <a:ext cx="68403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3.) Redacción de la memoria progresivamente</a:t>
            </a:r>
          </a:p>
        </p:txBody>
      </p:sp>
    </p:spTree>
    <p:extLst>
      <p:ext uri="{BB962C8B-B14F-4D97-AF65-F5344CB8AC3E}">
        <p14:creationId xmlns:p14="http://schemas.microsoft.com/office/powerpoint/2010/main" val="350096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C8DEA-AF43-786A-7E7F-94217D80F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25A8EB0B-A6E1-7F91-104E-A93B1A57E579}"/>
              </a:ext>
            </a:extLst>
          </p:cNvPr>
          <p:cNvSpPr txBox="1">
            <a:spLocks/>
          </p:cNvSpPr>
          <p:nvPr/>
        </p:nvSpPr>
        <p:spPr>
          <a:xfrm>
            <a:off x="2829691" y="475714"/>
            <a:ext cx="5763702" cy="977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700" b="1" dirty="0"/>
              <a:t>PLAN DE TRABAJO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A63CAC9-96C7-F90C-13E9-B7EE06F42DC0}"/>
              </a:ext>
            </a:extLst>
          </p:cNvPr>
          <p:cNvSpPr txBox="1"/>
          <p:nvPr/>
        </p:nvSpPr>
        <p:spPr>
          <a:xfrm>
            <a:off x="730504" y="2073944"/>
            <a:ext cx="7459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1.) Revisión bibliográfica y marco teórico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63107F-F8B8-2228-C726-47F8659710DD}"/>
              </a:ext>
            </a:extLst>
          </p:cNvPr>
          <p:cNvSpPr txBox="1"/>
          <p:nvPr/>
        </p:nvSpPr>
        <p:spPr>
          <a:xfrm>
            <a:off x="730504" y="2967335"/>
            <a:ext cx="7961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2.) Diseño del modelo formal: de aldea global a grafo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F5350C5-7715-FFB3-67E9-C71F9B80A443}"/>
              </a:ext>
            </a:extLst>
          </p:cNvPr>
          <p:cNvSpPr txBox="1"/>
          <p:nvPr/>
        </p:nvSpPr>
        <p:spPr>
          <a:xfrm>
            <a:off x="730504" y="3860726"/>
            <a:ext cx="5968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3.) Desarrollo del entorno de simulación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897E711-47E5-CDCE-D62A-18ACA0B212CB}"/>
              </a:ext>
            </a:extLst>
          </p:cNvPr>
          <p:cNvSpPr txBox="1"/>
          <p:nvPr/>
        </p:nvSpPr>
        <p:spPr>
          <a:xfrm>
            <a:off x="730503" y="4754117"/>
            <a:ext cx="6171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4.) Ejecución de experimentos y análisis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C25826E-825E-3A9B-0EB2-BB42B23F1AB2}"/>
              </a:ext>
            </a:extLst>
          </p:cNvPr>
          <p:cNvSpPr txBox="1"/>
          <p:nvPr/>
        </p:nvSpPr>
        <p:spPr>
          <a:xfrm>
            <a:off x="730502" y="5647508"/>
            <a:ext cx="10684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5.) Reflexión ética y empresarial, y propuestas para seguir investigando</a:t>
            </a:r>
          </a:p>
        </p:txBody>
      </p:sp>
      <p:pic>
        <p:nvPicPr>
          <p:cNvPr id="6" name="Imagen 5" descr="Tabla&#10;&#10;El contenido generado por IA puede ser incorrecto.">
            <a:extLst>
              <a:ext uri="{FF2B5EF4-FFF2-40B4-BE49-F238E27FC236}">
                <a16:creationId xmlns:a16="http://schemas.microsoft.com/office/drawing/2014/main" id="{AEEBE275-2BC5-ED58-B6A9-5BC3CB32E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813" y="2073944"/>
            <a:ext cx="4204187" cy="228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1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8ABA9-1D52-6E1B-1E27-38A1347ED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BBF937A9-7BD3-5896-6744-B279B0D6BBBF}"/>
              </a:ext>
            </a:extLst>
          </p:cNvPr>
          <p:cNvSpPr txBox="1">
            <a:spLocks/>
          </p:cNvSpPr>
          <p:nvPr/>
        </p:nvSpPr>
        <p:spPr>
          <a:xfrm>
            <a:off x="2829691" y="475714"/>
            <a:ext cx="5763702" cy="9779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700" b="1" dirty="0"/>
              <a:t>ESTADO ACTUAL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A9AEF0F-14F8-2D46-C177-5AF0116F8BEC}"/>
              </a:ext>
            </a:extLst>
          </p:cNvPr>
          <p:cNvSpPr txBox="1"/>
          <p:nvPr/>
        </p:nvSpPr>
        <p:spPr>
          <a:xfrm>
            <a:off x="559170" y="2004455"/>
            <a:ext cx="37038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Agentes</a:t>
            </a:r>
          </a:p>
          <a:p>
            <a:pPr marL="342900" indent="-342900">
              <a:buFontTx/>
              <a:buChar char="-"/>
            </a:pPr>
            <a:r>
              <a:rPr lang="es-ES" sz="2400" dirty="0"/>
              <a:t>Representación de la realidad</a:t>
            </a:r>
          </a:p>
          <a:p>
            <a:pPr marL="342900" indent="-342900">
              <a:buFontTx/>
              <a:buChar char="-"/>
            </a:pPr>
            <a:r>
              <a:rPr lang="es-ES" sz="2400" dirty="0" err="1"/>
              <a:t>Influencers</a:t>
            </a:r>
            <a:r>
              <a:rPr lang="es-ES" sz="2400" dirty="0"/>
              <a:t>/medios</a:t>
            </a:r>
          </a:p>
          <a:p>
            <a:pPr marL="342900" indent="-342900">
              <a:buFontTx/>
              <a:buChar char="-"/>
            </a:pPr>
            <a:r>
              <a:rPr lang="es-ES" sz="2400" dirty="0"/>
              <a:t>Resistencia manipulación</a:t>
            </a:r>
          </a:p>
          <a:p>
            <a:pPr marL="342900" indent="-342900">
              <a:buFontTx/>
              <a:buChar char="-"/>
            </a:pPr>
            <a:r>
              <a:rPr lang="es-ES" sz="2400" dirty="0"/>
              <a:t>Edad</a:t>
            </a:r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B28E1D-CBC0-4478-F17F-6FC0E6082FD0}"/>
              </a:ext>
            </a:extLst>
          </p:cNvPr>
          <p:cNvSpPr txBox="1"/>
          <p:nvPr/>
        </p:nvSpPr>
        <p:spPr>
          <a:xfrm>
            <a:off x="4435808" y="2004455"/>
            <a:ext cx="3803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Relaciones entre agentes</a:t>
            </a:r>
          </a:p>
          <a:p>
            <a:pPr marL="342900" indent="-342900">
              <a:buFontTx/>
              <a:buChar char="-"/>
            </a:pPr>
            <a:r>
              <a:rPr lang="es-ES" sz="2400" dirty="0"/>
              <a:t>Confianza</a:t>
            </a:r>
          </a:p>
          <a:p>
            <a:pPr marL="342900" indent="-342900">
              <a:buFontTx/>
              <a:buChar char="-"/>
            </a:pPr>
            <a:r>
              <a:rPr lang="es-ES" sz="2400" dirty="0"/>
              <a:t>Canal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BE180A0-DC81-DCD4-55F2-EB1F1C00D3C0}"/>
              </a:ext>
            </a:extLst>
          </p:cNvPr>
          <p:cNvSpPr txBox="1"/>
          <p:nvPr/>
        </p:nvSpPr>
        <p:spPr>
          <a:xfrm>
            <a:off x="8585021" y="2004455"/>
            <a:ext cx="3116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Mensajes</a:t>
            </a:r>
          </a:p>
          <a:p>
            <a:pPr marL="342900" indent="-342900">
              <a:buFontTx/>
              <a:buChar char="-"/>
            </a:pPr>
            <a:r>
              <a:rPr lang="es-ES" sz="2400" dirty="0"/>
              <a:t>Carga emocional</a:t>
            </a:r>
          </a:p>
          <a:p>
            <a:pPr marL="342900" indent="-342900">
              <a:buFontTx/>
              <a:buChar char="-"/>
            </a:pPr>
            <a:r>
              <a:rPr lang="es-ES" sz="2400" dirty="0"/>
              <a:t>Texto/sonido/video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4609910-208A-E790-866E-00491AD31AC2}"/>
              </a:ext>
            </a:extLst>
          </p:cNvPr>
          <p:cNvSpPr txBox="1"/>
          <p:nvPr/>
        </p:nvSpPr>
        <p:spPr>
          <a:xfrm>
            <a:off x="4591667" y="4331331"/>
            <a:ext cx="66746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Creación de la red</a:t>
            </a:r>
          </a:p>
          <a:p>
            <a:pPr marL="342900" indent="-342900">
              <a:buFontTx/>
              <a:buChar char="-"/>
            </a:pPr>
            <a:r>
              <a:rPr lang="es-ES" sz="2400" dirty="0"/>
              <a:t>En RRSS, 6 conexiones se llega a cualquiera.</a:t>
            </a:r>
          </a:p>
          <a:p>
            <a:pPr marL="342900" indent="-342900">
              <a:buFontTx/>
              <a:buChar char="-"/>
            </a:pPr>
            <a:r>
              <a:rPr lang="es-ES" sz="2400" dirty="0"/>
              <a:t>¼ masa crítica. 1/3 borregos. ½ indiferentes.</a:t>
            </a:r>
          </a:p>
        </p:txBody>
      </p:sp>
    </p:spTree>
    <p:extLst>
      <p:ext uri="{BB962C8B-B14F-4D97-AF65-F5344CB8AC3E}">
        <p14:creationId xmlns:p14="http://schemas.microsoft.com/office/powerpoint/2010/main" val="425190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2019</TotalTime>
  <Words>231</Words>
  <Application>Microsoft Office PowerPoint</Application>
  <PresentationFormat>Panorámica</PresentationFormat>
  <Paragraphs>41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Enebral Alonso</dc:creator>
  <cp:lastModifiedBy>Jorge Enebral Alonso</cp:lastModifiedBy>
  <cp:revision>4</cp:revision>
  <dcterms:created xsi:type="dcterms:W3CDTF">2026-02-09T01:03:27Z</dcterms:created>
  <dcterms:modified xsi:type="dcterms:W3CDTF">2026-02-10T12:42:13Z</dcterms:modified>
</cp:coreProperties>
</file>