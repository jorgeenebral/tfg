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66" r:id="rId3"/>
    <p:sldId id="262" r:id="rId4"/>
    <p:sldId id="268" r:id="rId5"/>
    <p:sldId id="267" r:id="rId6"/>
    <p:sldId id="264" r:id="rId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22" autoAdjust="0"/>
    <p:restoredTop sz="94660"/>
  </p:normalViewPr>
  <p:slideViewPr>
    <p:cSldViewPr snapToGrid="0">
      <p:cViewPr varScale="1">
        <p:scale>
          <a:sx n="74" d="100"/>
          <a:sy n="74" d="100"/>
        </p:scale>
        <p:origin x="91" y="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677ED1-B152-C76A-8C0A-C5F6FA0200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447451B-67DD-E6FE-DCD4-0DA50F61EC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379E6F4-24B4-8FA5-85EC-14714CD27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074E7-0086-4B37-963D-48E3AA388F6F}" type="datetimeFigureOut">
              <a:rPr lang="es-ES" smtClean="0"/>
              <a:t>27/04/2026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CAA8C1-2CE3-37C0-2352-750A6AF77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D3BD68C-C42B-F71D-3BD0-125E50DE0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2C453-6943-429D-93BE-AE16FC20FC8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99200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A8CFDA-26DA-7517-76F3-F28CCCD6C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6EB55A5-5E21-3AFA-ABC5-6CAE356916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653D04-384A-953C-E826-ED4342011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074E7-0086-4B37-963D-48E3AA388F6F}" type="datetimeFigureOut">
              <a:rPr lang="es-ES" smtClean="0"/>
              <a:t>27/04/2026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79C7A98-F0E9-64D4-B2C1-860645B2E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973EA9-D181-D46E-3EF2-E77928372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2C453-6943-429D-93BE-AE16FC20FC8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52290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790C58-5B02-D049-76B3-813CC3C39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1CE3C6D-4907-C562-2339-912A0498D6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50CDED-B77C-38B2-EF90-69E2AA0E3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074E7-0086-4B37-963D-48E3AA388F6F}" type="datetimeFigureOut">
              <a:rPr lang="es-ES" smtClean="0"/>
              <a:t>27/04/2026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F0926DF-ABCF-4B6B-ED15-76D10F1FD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046544-2886-C7B8-7A62-63817DA62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2C453-6943-429D-93BE-AE16FC20FC8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49247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36E743-52B9-801E-4D00-CF105F49D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B1DDB43-6333-C1FA-0250-888EC20B61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E1A208E-712B-D63E-7FC2-71B9FA0769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5D3FFD5-E82E-902C-6067-0CCE97744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074E7-0086-4B37-963D-48E3AA388F6F}" type="datetimeFigureOut">
              <a:rPr lang="es-ES" smtClean="0"/>
              <a:t>27/04/2026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2A3F0E6-2EAD-313E-DB92-7A0A03485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54A8898-73DF-E6C0-C644-11648FCE2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2C453-6943-429D-93BE-AE16FC20FC8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04631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4C7FA3-F8D6-A0F3-BBFE-B4ACA3D78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F7A5E3A-2A07-9FEC-DEAB-ECD4B0BAD8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612BF5A-AD14-FB82-C9BA-F0E2864EE7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E6979DF-18B8-7CCC-0F9E-4EDFDDE8F4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E1AD573-7AC9-7045-8A7B-9AE79BCEC4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116731B-53C3-9205-DA0C-2F4C30AAE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074E7-0086-4B37-963D-48E3AA388F6F}" type="datetimeFigureOut">
              <a:rPr lang="es-ES" smtClean="0"/>
              <a:t>27/04/2026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235B629-D4F8-879E-BCF2-6321AB24D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FB5ED72-39E5-8BBD-1E10-CBDA934E6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2C453-6943-429D-93BE-AE16FC20FC8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64536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C5EE0B-5E62-C52D-E642-08DB03D22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1839847-73EB-A1F5-5B0D-0AE6A1C4E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074E7-0086-4B37-963D-48E3AA388F6F}" type="datetimeFigureOut">
              <a:rPr lang="es-ES" smtClean="0"/>
              <a:t>27/04/2026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ACBA1ED-583E-DE5A-8E29-80766F454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578A91E-8701-DE6C-0F27-6FC47185F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2C453-6943-429D-93BE-AE16FC20FC8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75023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3926EB8-9C35-9117-9D5B-80BC108DD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074E7-0086-4B37-963D-48E3AA388F6F}" type="datetimeFigureOut">
              <a:rPr lang="es-ES" smtClean="0"/>
              <a:t>27/04/2026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EB92F2A-2ACF-9F3B-DB0A-EB1B83996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C1EB0C0-C76D-4DB6-6406-FF8C02F07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2C453-6943-429D-93BE-AE16FC20FC8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10742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FF2F9C-D539-DB1D-EB5A-5BA04503B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5A498D5-7720-5B98-6DD6-515256AB5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F12332E-4205-51C8-D481-A3FA68250F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0F9CD5B-3D91-FB8D-B826-632CB6A20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074E7-0086-4B37-963D-48E3AA388F6F}" type="datetimeFigureOut">
              <a:rPr lang="es-ES" smtClean="0"/>
              <a:t>27/04/2026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99BA6BA-00F5-DFF4-BE26-C9E96F9A4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DEA1420-8959-F200-DBE0-D68E31B62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2C453-6943-429D-93BE-AE16FC20FC8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32154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CB995F-E5BD-AF67-A0FE-094468DC6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361F506-1BE2-051C-0C3B-DA6CE0512B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F85D4B3-EF34-09F6-409B-B5A88DD50A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29B499B-05E9-4C62-3385-853B936C4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074E7-0086-4B37-963D-48E3AA388F6F}" type="datetimeFigureOut">
              <a:rPr lang="es-ES" smtClean="0"/>
              <a:t>27/04/2026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BBE660F-D2F3-FF21-3CEE-F1F4F9FF6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9E504FF-D776-7088-D286-912AD11EC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2C453-6943-429D-93BE-AE16FC20FC8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10326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AB4E90-B924-39A7-42C4-D57264D6C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5AE5E4A-CCE2-9FFA-8158-5FD1BB795B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17FF155-C985-281A-6C8C-888E8BA3E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074E7-0086-4B37-963D-48E3AA388F6F}" type="datetimeFigureOut">
              <a:rPr lang="es-ES" smtClean="0"/>
              <a:t>27/04/2026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5B4F88E-131B-2813-A22F-22D3DA20E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3B770B-7D10-011B-A24C-0D782E49C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2C453-6943-429D-93BE-AE16FC20FC8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14313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EABAA51-C195-20D2-53CD-955DCC6140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3633AF3-EEBF-5F12-C5CB-0E2E9C8B16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0E79700-FF8A-596F-BE71-6E4D4E486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074E7-0086-4B37-963D-48E3AA388F6F}" type="datetimeFigureOut">
              <a:rPr lang="es-ES" smtClean="0"/>
              <a:t>27/04/2026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EA1264B-D521-8A69-98D6-AAF318137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7A44C3D-6157-EE80-0B18-52FA9C261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2C453-6943-429D-93BE-AE16FC20FC8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98626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4BECE77-EAC5-903A-8F73-AFE108E50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FEF3945-A34D-FAE1-FB09-759E7C1F3F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9AAD9F5-58C6-176D-71CB-86762E9114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8074E7-0086-4B37-963D-48E3AA388F6F}" type="datetimeFigureOut">
              <a:rPr lang="es-ES" smtClean="0"/>
              <a:t>27/04/2026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30C50C5-726B-7AC7-B472-4A7A178721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D425A50-7137-F076-27DF-13A2B5D90D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62C453-6943-429D-93BE-AE16FC20FC8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44754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6" descr="😍 3 razones del por qué los Grafos son una de las mejores herramientas  para el análisis de datos">
            <a:extLst>
              <a:ext uri="{FF2B5EF4-FFF2-40B4-BE49-F238E27FC236}">
                <a16:creationId xmlns:a16="http://schemas.microsoft.com/office/drawing/2014/main" id="{E4CB465F-20F7-13BC-711C-420B5E147D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51" t="9091" r="31058"/>
          <a:stretch>
            <a:fillRect/>
          </a:stretch>
        </p:blipFill>
        <p:spPr bwMode="auto">
          <a:xfrm>
            <a:off x="3523488" y="10"/>
            <a:ext cx="866851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EEC6D0B-9E24-E3AA-B680-B14C17B14E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r>
              <a:rPr lang="es-ES" sz="2600" b="1" dirty="0"/>
              <a:t>Interacciones y Dinámicas en la </a:t>
            </a:r>
            <a:r>
              <a:rPr lang="es-ES" sz="2600" b="1" dirty="0">
                <a:highlight>
                  <a:srgbClr val="FFFF00"/>
                </a:highlight>
              </a:rPr>
              <a:t>Aldea Global</a:t>
            </a:r>
            <a:r>
              <a:rPr lang="es-ES" sz="2600" b="1" dirty="0"/>
              <a:t>: </a:t>
            </a:r>
            <a:r>
              <a:rPr lang="es-ES" sz="2600" b="1" dirty="0">
                <a:highlight>
                  <a:srgbClr val="00FFFF"/>
                </a:highlight>
              </a:rPr>
              <a:t>Modelado Matemático y Psicosocial </a:t>
            </a:r>
            <a:r>
              <a:rPr lang="es-ES" sz="2600" b="1" dirty="0"/>
              <a:t>de la </a:t>
            </a:r>
            <a:r>
              <a:rPr lang="es-ES" sz="2600" b="1" dirty="0">
                <a:highlight>
                  <a:srgbClr val="00FF00"/>
                </a:highlight>
              </a:rPr>
              <a:t>Guerra Cognitiva</a:t>
            </a:r>
            <a:r>
              <a:rPr lang="es-ES" sz="2600" b="1" dirty="0"/>
              <a:t> en </a:t>
            </a:r>
            <a:r>
              <a:rPr lang="es-ES" sz="2600" b="1" dirty="0">
                <a:highlight>
                  <a:srgbClr val="FF0000"/>
                </a:highlight>
              </a:rPr>
              <a:t>Redes Complejas</a:t>
            </a:r>
            <a:br>
              <a:rPr lang="es-ES" sz="2600" dirty="0"/>
            </a:br>
            <a:endParaRPr lang="es-ES" sz="26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F7794AC-F2F9-D7B2-4834-A2CE221C96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1" y="4843739"/>
            <a:ext cx="4736046" cy="1208141"/>
          </a:xfrm>
        </p:spPr>
        <p:txBody>
          <a:bodyPr>
            <a:normAutofit/>
          </a:bodyPr>
          <a:lstStyle/>
          <a:p>
            <a:pPr algn="l"/>
            <a:r>
              <a:rPr lang="es-ES" sz="2000" dirty="0"/>
              <a:t>Autor: Jorge Enebral Alonso</a:t>
            </a:r>
          </a:p>
          <a:p>
            <a:pPr algn="l"/>
            <a:r>
              <a:rPr lang="es-ES" sz="2000" dirty="0"/>
              <a:t>Director: David Martín-Corral Calvo</a:t>
            </a:r>
          </a:p>
          <a:p>
            <a:pPr algn="l"/>
            <a:endParaRPr lang="es-ES" sz="20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5321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14" name="Rectangle 4113">
            <a:extLst>
              <a:ext uri="{FF2B5EF4-FFF2-40B4-BE49-F238E27FC236}">
                <a16:creationId xmlns:a16="http://schemas.microsoft.com/office/drawing/2014/main" id="{9089EED9-F54D-4F20-A2C6-949DE41769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16" name="Rectangle 4115">
            <a:extLst>
              <a:ext uri="{FF2B5EF4-FFF2-40B4-BE49-F238E27FC236}">
                <a16:creationId xmlns:a16="http://schemas.microsoft.com/office/drawing/2014/main" id="{7E46F721-3785-414D-8697-16AF490E68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036EAFD-488C-4852-9F07-2A803FC59A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15992" y="794183"/>
            <a:ext cx="3389515" cy="791425"/>
          </a:xfrm>
        </p:spPr>
        <p:txBody>
          <a:bodyPr anchor="b">
            <a:normAutofit/>
          </a:bodyPr>
          <a:lstStyle/>
          <a:p>
            <a:r>
              <a:rPr lang="es-ES" sz="4400" b="1" dirty="0"/>
              <a:t>OBJETIVOS</a:t>
            </a:r>
            <a:endParaRPr lang="es-ES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1EBBA61-4CA5-F96A-F70B-A1012E015E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78983" y="1831573"/>
            <a:ext cx="4299626" cy="4385042"/>
          </a:xfrm>
        </p:spPr>
        <p:txBody>
          <a:bodyPr anchor="t">
            <a:normAutofit/>
          </a:bodyPr>
          <a:lstStyle/>
          <a:p>
            <a:pPr>
              <a:spcBef>
                <a:spcPts val="1200"/>
              </a:spcBef>
            </a:pPr>
            <a:r>
              <a:rPr lang="es-ES" sz="1800" dirty="0"/>
              <a:t>1.) Teoría guerra cognitiva ✅</a:t>
            </a:r>
          </a:p>
          <a:p>
            <a:pPr>
              <a:spcBef>
                <a:spcPts val="1200"/>
              </a:spcBef>
            </a:pPr>
            <a:r>
              <a:rPr lang="es-ES" sz="1800" dirty="0"/>
              <a:t>2.) Desarrollo </a:t>
            </a:r>
            <a:r>
              <a:rPr lang="es-ES" sz="1800" b="1" dirty="0"/>
              <a:t>muy básico</a:t>
            </a:r>
            <a:r>
              <a:rPr lang="es-ES" sz="1800" dirty="0"/>
              <a:t> del modelo computacional ✅</a:t>
            </a:r>
          </a:p>
          <a:p>
            <a:pPr>
              <a:spcBef>
                <a:spcPts val="1200"/>
              </a:spcBef>
            </a:pPr>
            <a:r>
              <a:rPr lang="es-ES" sz="1800" dirty="0"/>
              <a:t>3.) Estudio de los tipos de topología 🔜</a:t>
            </a:r>
          </a:p>
          <a:p>
            <a:pPr>
              <a:spcBef>
                <a:spcPts val="1200"/>
              </a:spcBef>
            </a:pPr>
            <a:r>
              <a:rPr lang="es-ES" sz="1800" dirty="0"/>
              <a:t>4.) Modelado psicológico de las relaciones humanas 🔜</a:t>
            </a:r>
          </a:p>
          <a:p>
            <a:pPr>
              <a:spcBef>
                <a:spcPts val="1200"/>
              </a:spcBef>
            </a:pPr>
            <a:r>
              <a:rPr lang="es-ES" sz="1800" dirty="0"/>
              <a:t>5.) Modelado matemático de la psicología humana y de la guerra cognitiva</a:t>
            </a:r>
          </a:p>
          <a:p>
            <a:pPr>
              <a:spcBef>
                <a:spcPts val="1200"/>
              </a:spcBef>
            </a:pPr>
            <a:r>
              <a:rPr lang="es-ES" sz="1800" dirty="0"/>
              <a:t>5.) Arquitectura de la aldea global teórica</a:t>
            </a:r>
          </a:p>
          <a:p>
            <a:pPr>
              <a:spcBef>
                <a:spcPts val="1200"/>
              </a:spcBef>
            </a:pPr>
            <a:r>
              <a:rPr lang="es-ES" sz="1800" dirty="0"/>
              <a:t>7.) Analizar resultados de las simulaciones </a:t>
            </a:r>
          </a:p>
          <a:p>
            <a:endParaRPr lang="es-ES" sz="1600" dirty="0"/>
          </a:p>
          <a:p>
            <a:endParaRPr lang="es-ES" sz="1600" dirty="0"/>
          </a:p>
          <a:p>
            <a:endParaRPr lang="es-ES" sz="1600" dirty="0"/>
          </a:p>
          <a:p>
            <a:endParaRPr lang="es-E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4098" name="Picture 2" descr="El Arte de la Planificación: Cómo Definir Objetivos de Manera Efectiva">
            <a:extLst>
              <a:ext uri="{FF2B5EF4-FFF2-40B4-BE49-F238E27FC236}">
                <a16:creationId xmlns:a16="http://schemas.microsoft.com/office/drawing/2014/main" id="{A58F1943-163F-D00F-0D9D-27593EA994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06" r="432" b="1"/>
          <a:stretch>
            <a:fillRect/>
          </a:stretch>
        </p:blipFill>
        <p:spPr bwMode="auto">
          <a:xfrm>
            <a:off x="20" y="1"/>
            <a:ext cx="7665573" cy="6857999"/>
          </a:xfrm>
          <a:custGeom>
            <a:avLst/>
            <a:gdLst/>
            <a:ahLst/>
            <a:cxnLst/>
            <a:rect l="l" t="t" r="r" b="b"/>
            <a:pathLst>
              <a:path w="7665593" h="6857999">
                <a:moveTo>
                  <a:pt x="0" y="0"/>
                </a:moveTo>
                <a:lnTo>
                  <a:pt x="7363783" y="0"/>
                </a:lnTo>
                <a:lnTo>
                  <a:pt x="7372954" y="18152"/>
                </a:lnTo>
                <a:cubicBezTo>
                  <a:pt x="7378508" y="27417"/>
                  <a:pt x="7383821" y="35694"/>
                  <a:pt x="7386404" y="41707"/>
                </a:cubicBezTo>
                <a:lnTo>
                  <a:pt x="7389058" y="60832"/>
                </a:lnTo>
                <a:lnTo>
                  <a:pt x="7394074" y="60137"/>
                </a:lnTo>
                <a:lnTo>
                  <a:pt x="7394443" y="67241"/>
                </a:lnTo>
                <a:lnTo>
                  <a:pt x="7394565" y="83099"/>
                </a:lnTo>
                <a:cubicBezTo>
                  <a:pt x="7395324" y="92994"/>
                  <a:pt x="7394122" y="120511"/>
                  <a:pt x="7395957" y="130584"/>
                </a:cubicBezTo>
                <a:cubicBezTo>
                  <a:pt x="7401306" y="133490"/>
                  <a:pt x="7404223" y="137975"/>
                  <a:pt x="7405574" y="143540"/>
                </a:cubicBezTo>
                <a:lnTo>
                  <a:pt x="7405725" y="155795"/>
                </a:lnTo>
                <a:lnTo>
                  <a:pt x="7418615" y="226869"/>
                </a:lnTo>
                <a:lnTo>
                  <a:pt x="7419579" y="236641"/>
                </a:lnTo>
                <a:lnTo>
                  <a:pt x="7423900" y="241933"/>
                </a:lnTo>
                <a:cubicBezTo>
                  <a:pt x="7424763" y="245974"/>
                  <a:pt x="7424206" y="257579"/>
                  <a:pt x="7424760" y="260885"/>
                </a:cubicBezTo>
                <a:cubicBezTo>
                  <a:pt x="7425580" y="261177"/>
                  <a:pt x="7426400" y="261469"/>
                  <a:pt x="7427220" y="261761"/>
                </a:cubicBezTo>
                <a:cubicBezTo>
                  <a:pt x="7431152" y="272291"/>
                  <a:pt x="7444241" y="311893"/>
                  <a:pt x="7448344" y="324055"/>
                </a:cubicBezTo>
                <a:cubicBezTo>
                  <a:pt x="7444563" y="326484"/>
                  <a:pt x="7450535" y="331924"/>
                  <a:pt x="7451833" y="334727"/>
                </a:cubicBezTo>
                <a:cubicBezTo>
                  <a:pt x="7449286" y="335161"/>
                  <a:pt x="7448510" y="341947"/>
                  <a:pt x="7450776" y="343948"/>
                </a:cubicBezTo>
                <a:cubicBezTo>
                  <a:pt x="7463202" y="391652"/>
                  <a:pt x="7437523" y="367773"/>
                  <a:pt x="7453791" y="395003"/>
                </a:cubicBezTo>
                <a:cubicBezTo>
                  <a:pt x="7454869" y="399820"/>
                  <a:pt x="7453841" y="403723"/>
                  <a:pt x="7451939" y="407147"/>
                </a:cubicBezTo>
                <a:lnTo>
                  <a:pt x="7448030" y="412254"/>
                </a:lnTo>
                <a:lnTo>
                  <a:pt x="7455416" y="432021"/>
                </a:lnTo>
                <a:cubicBezTo>
                  <a:pt x="7457991" y="441758"/>
                  <a:pt x="7459699" y="452007"/>
                  <a:pt x="7460479" y="462523"/>
                </a:cubicBezTo>
                <a:cubicBezTo>
                  <a:pt x="7455275" y="464882"/>
                  <a:pt x="7462669" y="473136"/>
                  <a:pt x="7464133" y="477020"/>
                </a:cubicBezTo>
                <a:cubicBezTo>
                  <a:pt x="7460734" y="477060"/>
                  <a:pt x="7459104" y="485663"/>
                  <a:pt x="7461914" y="488716"/>
                </a:cubicBezTo>
                <a:cubicBezTo>
                  <a:pt x="7474065" y="552879"/>
                  <a:pt x="7442314" y="516775"/>
                  <a:pt x="7461353" y="555280"/>
                </a:cubicBezTo>
                <a:cubicBezTo>
                  <a:pt x="7462345" y="561721"/>
                  <a:pt x="7460642" y="566553"/>
                  <a:pt x="7457829" y="570585"/>
                </a:cubicBezTo>
                <a:lnTo>
                  <a:pt x="7450804" y="577839"/>
                </a:lnTo>
                <a:lnTo>
                  <a:pt x="7453309" y="583524"/>
                </a:lnTo>
                <a:cubicBezTo>
                  <a:pt x="7453505" y="604977"/>
                  <a:pt x="7446306" y="611303"/>
                  <a:pt x="7453558" y="623785"/>
                </a:cubicBezTo>
                <a:cubicBezTo>
                  <a:pt x="7438483" y="642230"/>
                  <a:pt x="7452055" y="636019"/>
                  <a:pt x="7454362" y="650049"/>
                </a:cubicBezTo>
                <a:cubicBezTo>
                  <a:pt x="7457368" y="661117"/>
                  <a:pt x="7463152" y="640798"/>
                  <a:pt x="7464006" y="651645"/>
                </a:cubicBezTo>
                <a:cubicBezTo>
                  <a:pt x="7460114" y="663380"/>
                  <a:pt x="7472201" y="662829"/>
                  <a:pt x="7467442" y="675032"/>
                </a:cubicBezTo>
                <a:cubicBezTo>
                  <a:pt x="7458335" y="672068"/>
                  <a:pt x="7469207" y="699114"/>
                  <a:pt x="7461251" y="699956"/>
                </a:cubicBezTo>
                <a:cubicBezTo>
                  <a:pt x="7472628" y="710321"/>
                  <a:pt x="7458614" y="715529"/>
                  <a:pt x="7462119" y="729331"/>
                </a:cubicBezTo>
                <a:cubicBezTo>
                  <a:pt x="7466423" y="735831"/>
                  <a:pt x="7467162" y="740521"/>
                  <a:pt x="7462533" y="746910"/>
                </a:cubicBezTo>
                <a:cubicBezTo>
                  <a:pt x="7483486" y="776851"/>
                  <a:pt x="7463470" y="765024"/>
                  <a:pt x="7471529" y="793043"/>
                </a:cubicBezTo>
                <a:cubicBezTo>
                  <a:pt x="7480002" y="817184"/>
                  <a:pt x="7485500" y="844550"/>
                  <a:pt x="7505730" y="867898"/>
                </a:cubicBezTo>
                <a:cubicBezTo>
                  <a:pt x="7511461" y="872184"/>
                  <a:pt x="7513630" y="882707"/>
                  <a:pt x="7510576" y="891400"/>
                </a:cubicBezTo>
                <a:cubicBezTo>
                  <a:pt x="7510049" y="892894"/>
                  <a:pt x="7509385" y="894278"/>
                  <a:pt x="7508604" y="895508"/>
                </a:cubicBezTo>
                <a:cubicBezTo>
                  <a:pt x="7511698" y="915692"/>
                  <a:pt x="7525520" y="989520"/>
                  <a:pt x="7529143" y="1012510"/>
                </a:cubicBezTo>
                <a:cubicBezTo>
                  <a:pt x="7521781" y="1014371"/>
                  <a:pt x="7535067" y="1025997"/>
                  <a:pt x="7530347" y="1033444"/>
                </a:cubicBezTo>
                <a:cubicBezTo>
                  <a:pt x="7526204" y="1038777"/>
                  <a:pt x="7529270" y="1043549"/>
                  <a:pt x="7529596" y="1049120"/>
                </a:cubicBezTo>
                <a:cubicBezTo>
                  <a:pt x="7526339" y="1056460"/>
                  <a:pt x="7532220" y="1080398"/>
                  <a:pt x="7536437" y="1086639"/>
                </a:cubicBezTo>
                <a:cubicBezTo>
                  <a:pt x="7551094" y="1101553"/>
                  <a:pt x="7540210" y="1135442"/>
                  <a:pt x="7551438" y="1147834"/>
                </a:cubicBezTo>
                <a:cubicBezTo>
                  <a:pt x="7553086" y="1152330"/>
                  <a:pt x="7553752" y="1156729"/>
                  <a:pt x="7553808" y="1161047"/>
                </a:cubicBezTo>
                <a:lnTo>
                  <a:pt x="7552572" y="1173130"/>
                </a:lnTo>
                <a:lnTo>
                  <a:pt x="7549434" y="1176566"/>
                </a:lnTo>
                <a:lnTo>
                  <a:pt x="7550211" y="1183950"/>
                </a:lnTo>
                <a:lnTo>
                  <a:pt x="7549733" y="1186066"/>
                </a:lnTo>
                <a:cubicBezTo>
                  <a:pt x="7548807" y="1190108"/>
                  <a:pt x="7548001" y="1194099"/>
                  <a:pt x="7547683" y="1198047"/>
                </a:cubicBezTo>
                <a:cubicBezTo>
                  <a:pt x="7563423" y="1192855"/>
                  <a:pt x="7547566" y="1230782"/>
                  <a:pt x="7560295" y="1219849"/>
                </a:cubicBezTo>
                <a:cubicBezTo>
                  <a:pt x="7561281" y="1240644"/>
                  <a:pt x="7573138" y="1224782"/>
                  <a:pt x="7561835" y="1249779"/>
                </a:cubicBezTo>
                <a:cubicBezTo>
                  <a:pt x="7574707" y="1282065"/>
                  <a:pt x="7569916" y="1332957"/>
                  <a:pt x="7589445" y="1358245"/>
                </a:cubicBezTo>
                <a:cubicBezTo>
                  <a:pt x="7581989" y="1355103"/>
                  <a:pt x="7576204" y="1368711"/>
                  <a:pt x="7579904" y="1378136"/>
                </a:cubicBezTo>
                <a:cubicBezTo>
                  <a:pt x="7550647" y="1367117"/>
                  <a:pt x="7606267" y="1415404"/>
                  <a:pt x="7586303" y="1423699"/>
                </a:cubicBezTo>
                <a:cubicBezTo>
                  <a:pt x="7604838" y="1424108"/>
                  <a:pt x="7636267" y="1466352"/>
                  <a:pt x="7621059" y="1486236"/>
                </a:cubicBezTo>
                <a:cubicBezTo>
                  <a:pt x="7624771" y="1516526"/>
                  <a:pt x="7640092" y="1537976"/>
                  <a:pt x="7633966" y="1569734"/>
                </a:cubicBezTo>
                <a:cubicBezTo>
                  <a:pt x="7636447" y="1570719"/>
                  <a:pt x="7638522" y="1572334"/>
                  <a:pt x="7640304" y="1574384"/>
                </a:cubicBezTo>
                <a:lnTo>
                  <a:pt x="7644628" y="1581242"/>
                </a:lnTo>
                <a:lnTo>
                  <a:pt x="7644313" y="1582567"/>
                </a:lnTo>
                <a:cubicBezTo>
                  <a:pt x="7644257" y="1587776"/>
                  <a:pt x="7645302" y="1590443"/>
                  <a:pt x="7646831" y="1591983"/>
                </a:cubicBezTo>
                <a:cubicBezTo>
                  <a:pt x="7647577" y="1592347"/>
                  <a:pt x="7648323" y="1592711"/>
                  <a:pt x="7649069" y="1593074"/>
                </a:cubicBezTo>
                <a:lnTo>
                  <a:pt x="7651326" y="1599230"/>
                </a:lnTo>
                <a:lnTo>
                  <a:pt x="7657195" y="1610539"/>
                </a:lnTo>
                <a:lnTo>
                  <a:pt x="7656957" y="1613422"/>
                </a:lnTo>
                <a:lnTo>
                  <a:pt x="7663730" y="1631673"/>
                </a:lnTo>
                <a:lnTo>
                  <a:pt x="7663189" y="1632289"/>
                </a:lnTo>
                <a:cubicBezTo>
                  <a:pt x="7662131" y="1634085"/>
                  <a:pt x="7661641" y="1636199"/>
                  <a:pt x="7662326" y="1639024"/>
                </a:cubicBezTo>
                <a:cubicBezTo>
                  <a:pt x="7651979" y="1640024"/>
                  <a:pt x="7659188" y="1642819"/>
                  <a:pt x="7662125" y="1651067"/>
                </a:cubicBezTo>
                <a:cubicBezTo>
                  <a:pt x="7646711" y="1654462"/>
                  <a:pt x="7660667" y="1674670"/>
                  <a:pt x="7653812" y="1683345"/>
                </a:cubicBezTo>
                <a:cubicBezTo>
                  <a:pt x="7656316" y="1689330"/>
                  <a:pt x="7658683" y="1695719"/>
                  <a:pt x="7660803" y="1702414"/>
                </a:cubicBezTo>
                <a:lnTo>
                  <a:pt x="7661867" y="1756201"/>
                </a:lnTo>
                <a:lnTo>
                  <a:pt x="7649453" y="1812530"/>
                </a:lnTo>
                <a:cubicBezTo>
                  <a:pt x="7649183" y="1833366"/>
                  <a:pt x="7644573" y="1851408"/>
                  <a:pt x="7647823" y="1869041"/>
                </a:cubicBezTo>
                <a:cubicBezTo>
                  <a:pt x="7644238" y="1876204"/>
                  <a:pt x="7642789" y="1882956"/>
                  <a:pt x="7648156" y="1889503"/>
                </a:cubicBezTo>
                <a:cubicBezTo>
                  <a:pt x="7646365" y="1908946"/>
                  <a:pt x="7638702" y="1913653"/>
                  <a:pt x="7644679" y="1925974"/>
                </a:cubicBezTo>
                <a:cubicBezTo>
                  <a:pt x="7632281" y="1936898"/>
                  <a:pt x="7637013" y="1937545"/>
                  <a:pt x="7640564" y="1942678"/>
                </a:cubicBezTo>
                <a:lnTo>
                  <a:pt x="7640816" y="1943410"/>
                </a:lnTo>
                <a:lnTo>
                  <a:pt x="7639044" y="1944904"/>
                </a:lnTo>
                <a:lnTo>
                  <a:pt x="7638223" y="1947993"/>
                </a:lnTo>
                <a:lnTo>
                  <a:pt x="7638752" y="1956430"/>
                </a:lnTo>
                <a:lnTo>
                  <a:pt x="7639407" y="1959603"/>
                </a:lnTo>
                <a:cubicBezTo>
                  <a:pt x="7639690" y="1961788"/>
                  <a:pt x="7639658" y="1963239"/>
                  <a:pt x="7639396" y="1964244"/>
                </a:cubicBezTo>
                <a:lnTo>
                  <a:pt x="7639249" y="1964361"/>
                </a:lnTo>
                <a:lnTo>
                  <a:pt x="7639521" y="1968708"/>
                </a:lnTo>
                <a:cubicBezTo>
                  <a:pt x="7640315" y="1976045"/>
                  <a:pt x="7641402" y="1983186"/>
                  <a:pt x="7642694" y="1989983"/>
                </a:cubicBezTo>
                <a:cubicBezTo>
                  <a:pt x="7634556" y="1995729"/>
                  <a:pt x="7644169" y="2020842"/>
                  <a:pt x="7628828" y="2018094"/>
                </a:cubicBezTo>
                <a:cubicBezTo>
                  <a:pt x="7630116" y="2027262"/>
                  <a:pt x="7636485" y="2032807"/>
                  <a:pt x="7626423" y="2029720"/>
                </a:cubicBezTo>
                <a:cubicBezTo>
                  <a:pt x="7626559" y="2032738"/>
                  <a:pt x="7625703" y="2034598"/>
                  <a:pt x="7624364" y="2035929"/>
                </a:cubicBezTo>
                <a:lnTo>
                  <a:pt x="7623733" y="2036314"/>
                </a:lnTo>
                <a:lnTo>
                  <a:pt x="7626847" y="2056711"/>
                </a:lnTo>
                <a:lnTo>
                  <a:pt x="7626090" y="2059419"/>
                </a:lnTo>
                <a:lnTo>
                  <a:pt x="7629618" y="2072712"/>
                </a:lnTo>
                <a:lnTo>
                  <a:pt x="7630641" y="2079581"/>
                </a:lnTo>
                <a:lnTo>
                  <a:pt x="7632577" y="2081522"/>
                </a:lnTo>
                <a:cubicBezTo>
                  <a:pt x="7633753" y="2083617"/>
                  <a:pt x="7634261" y="2086620"/>
                  <a:pt x="7633251" y="2091658"/>
                </a:cubicBezTo>
                <a:lnTo>
                  <a:pt x="7632707" y="2092825"/>
                </a:lnTo>
                <a:lnTo>
                  <a:pt x="7635575" y="2101184"/>
                </a:lnTo>
                <a:cubicBezTo>
                  <a:pt x="7636900" y="2103876"/>
                  <a:pt x="7638586" y="2106260"/>
                  <a:pt x="7640772" y="2108190"/>
                </a:cubicBezTo>
                <a:cubicBezTo>
                  <a:pt x="7629093" y="2136655"/>
                  <a:pt x="7639778" y="2163513"/>
                  <a:pt x="7637758" y="2194409"/>
                </a:cubicBezTo>
                <a:cubicBezTo>
                  <a:pt x="7619585" y="2207765"/>
                  <a:pt x="7641835" y="2261154"/>
                  <a:pt x="7659453" y="2268824"/>
                </a:cubicBezTo>
                <a:cubicBezTo>
                  <a:pt x="7644015" y="2268997"/>
                  <a:pt x="7665037" y="2307714"/>
                  <a:pt x="7665583" y="2317700"/>
                </a:cubicBezTo>
                <a:cubicBezTo>
                  <a:pt x="7665764" y="2321029"/>
                  <a:pt x="7663671" y="2321166"/>
                  <a:pt x="7657195" y="2315619"/>
                </a:cubicBezTo>
                <a:cubicBezTo>
                  <a:pt x="7658997" y="2326231"/>
                  <a:pt x="7650972" y="2337185"/>
                  <a:pt x="7644431" y="2331209"/>
                </a:cubicBezTo>
                <a:cubicBezTo>
                  <a:pt x="7658433" y="2363448"/>
                  <a:pt x="7644510" y="2411031"/>
                  <a:pt x="7650869" y="2447461"/>
                </a:cubicBezTo>
                <a:cubicBezTo>
                  <a:pt x="7635485" y="2467322"/>
                  <a:pt x="7649719" y="2456555"/>
                  <a:pt x="7646841" y="2477156"/>
                </a:cubicBezTo>
                <a:cubicBezTo>
                  <a:pt x="7661004" y="2471521"/>
                  <a:pt x="7638896" y="2502164"/>
                  <a:pt x="7654880" y="2503292"/>
                </a:cubicBezTo>
                <a:cubicBezTo>
                  <a:pt x="7653849" y="2507005"/>
                  <a:pt x="7652348" y="2510567"/>
                  <a:pt x="7650720" y="2514131"/>
                </a:cubicBezTo>
                <a:lnTo>
                  <a:pt x="7649876" y="2516003"/>
                </a:lnTo>
                <a:lnTo>
                  <a:pt x="7649263" y="2523483"/>
                </a:lnTo>
                <a:lnTo>
                  <a:pt x="7645633" y="2525592"/>
                </a:lnTo>
                <a:lnTo>
                  <a:pt x="7642233" y="2536851"/>
                </a:lnTo>
                <a:cubicBezTo>
                  <a:pt x="7641494" y="2541069"/>
                  <a:pt x="7641323" y="2545607"/>
                  <a:pt x="7642069" y="2550622"/>
                </a:cubicBezTo>
                <a:cubicBezTo>
                  <a:pt x="7648404" y="2562959"/>
                  <a:pt x="7640640" y="2582170"/>
                  <a:pt x="7641110" y="2599544"/>
                </a:cubicBezTo>
                <a:lnTo>
                  <a:pt x="7643071" y="2607523"/>
                </a:lnTo>
                <a:lnTo>
                  <a:pt x="7639801" y="2633566"/>
                </a:lnTo>
                <a:cubicBezTo>
                  <a:pt x="7639166" y="2640978"/>
                  <a:pt x="7638833" y="2648672"/>
                  <a:pt x="7639065" y="2656773"/>
                </a:cubicBezTo>
                <a:lnTo>
                  <a:pt x="7640624" y="2671810"/>
                </a:lnTo>
                <a:lnTo>
                  <a:pt x="7639332" y="2675751"/>
                </a:lnTo>
                <a:cubicBezTo>
                  <a:pt x="7639476" y="2682617"/>
                  <a:pt x="7644027" y="2691703"/>
                  <a:pt x="7638498" y="2690893"/>
                </a:cubicBezTo>
                <a:lnTo>
                  <a:pt x="7640415" y="2698606"/>
                </a:lnTo>
                <a:lnTo>
                  <a:pt x="7636002" y="2706218"/>
                </a:lnTo>
                <a:cubicBezTo>
                  <a:pt x="7634978" y="2707053"/>
                  <a:pt x="7633887" y="2707679"/>
                  <a:pt x="7632770" y="2708079"/>
                </a:cubicBezTo>
                <a:lnTo>
                  <a:pt x="7634220" y="2718854"/>
                </a:lnTo>
                <a:lnTo>
                  <a:pt x="7631061" y="2727688"/>
                </a:lnTo>
                <a:lnTo>
                  <a:pt x="7633127" y="2735389"/>
                </a:lnTo>
                <a:lnTo>
                  <a:pt x="7632661" y="2738584"/>
                </a:lnTo>
                <a:lnTo>
                  <a:pt x="7631098" y="2746529"/>
                </a:lnTo>
                <a:cubicBezTo>
                  <a:pt x="7630002" y="2750602"/>
                  <a:pt x="7628681" y="2755160"/>
                  <a:pt x="7627624" y="2760235"/>
                </a:cubicBezTo>
                <a:lnTo>
                  <a:pt x="7627140" y="2764511"/>
                </a:lnTo>
                <a:lnTo>
                  <a:pt x="7621827" y="2773820"/>
                </a:lnTo>
                <a:cubicBezTo>
                  <a:pt x="7617811" y="2780593"/>
                  <a:pt x="7615104" y="2785923"/>
                  <a:pt x="7617284" y="2791840"/>
                </a:cubicBezTo>
                <a:cubicBezTo>
                  <a:pt x="7612094" y="2801924"/>
                  <a:pt x="7597550" y="2808970"/>
                  <a:pt x="7601430" y="2823567"/>
                </a:cubicBezTo>
                <a:cubicBezTo>
                  <a:pt x="7594841" y="2819137"/>
                  <a:pt x="7600633" y="2839778"/>
                  <a:pt x="7593865" y="2842217"/>
                </a:cubicBezTo>
                <a:cubicBezTo>
                  <a:pt x="7588415" y="2843342"/>
                  <a:pt x="7588901" y="2849866"/>
                  <a:pt x="7586893" y="2854834"/>
                </a:cubicBezTo>
                <a:cubicBezTo>
                  <a:pt x="7581327" y="2858374"/>
                  <a:pt x="7576244" y="2883372"/>
                  <a:pt x="7577046" y="2892075"/>
                </a:cubicBezTo>
                <a:cubicBezTo>
                  <a:pt x="7582584" y="2916606"/>
                  <a:pt x="7560175" y="2936338"/>
                  <a:pt x="7564026" y="2955950"/>
                </a:cubicBezTo>
                <a:cubicBezTo>
                  <a:pt x="7563501" y="2961086"/>
                  <a:pt x="7562240" y="2965343"/>
                  <a:pt x="7560529" y="2969031"/>
                </a:cubicBezTo>
                <a:lnTo>
                  <a:pt x="7554631" y="2978222"/>
                </a:lnTo>
                <a:lnTo>
                  <a:pt x="7550747" y="2978564"/>
                </a:lnTo>
                <a:lnTo>
                  <a:pt x="7548359" y="2985429"/>
                </a:lnTo>
                <a:lnTo>
                  <a:pt x="7547120" y="2986826"/>
                </a:lnTo>
                <a:cubicBezTo>
                  <a:pt x="7544741" y="2989483"/>
                  <a:pt x="7542480" y="2992194"/>
                  <a:pt x="7540621" y="2995267"/>
                </a:cubicBezTo>
                <a:cubicBezTo>
                  <a:pt x="7555200" y="3003715"/>
                  <a:pt x="7527208" y="3022799"/>
                  <a:pt x="7541739" y="3023946"/>
                </a:cubicBezTo>
                <a:cubicBezTo>
                  <a:pt x="7534059" y="3042303"/>
                  <a:pt x="7549904" y="3038579"/>
                  <a:pt x="7530781" y="3050462"/>
                </a:cubicBezTo>
                <a:cubicBezTo>
                  <a:pt x="7527838" y="3088204"/>
                  <a:pt x="7503338" y="3127251"/>
                  <a:pt x="7508515" y="3164510"/>
                </a:cubicBezTo>
                <a:cubicBezTo>
                  <a:pt x="7503888" y="3155782"/>
                  <a:pt x="7493770" y="3162549"/>
                  <a:pt x="7492866" y="3173520"/>
                </a:cubicBezTo>
                <a:cubicBezTo>
                  <a:pt x="7474179" y="3140376"/>
                  <a:pt x="7498581" y="3226463"/>
                  <a:pt x="7479395" y="3217191"/>
                </a:cubicBezTo>
                <a:cubicBezTo>
                  <a:pt x="7493905" y="3232643"/>
                  <a:pt x="7501608" y="3293915"/>
                  <a:pt x="7481475" y="3298298"/>
                </a:cubicBezTo>
                <a:cubicBezTo>
                  <a:pt x="7472089" y="3326890"/>
                  <a:pt x="7475493" y="3357480"/>
                  <a:pt x="7457722" y="3379292"/>
                </a:cubicBezTo>
                <a:cubicBezTo>
                  <a:pt x="7459285" y="3382143"/>
                  <a:pt x="7460273" y="3385199"/>
                  <a:pt x="7460850" y="3388381"/>
                </a:cubicBezTo>
                <a:lnTo>
                  <a:pt x="7461482" y="3397694"/>
                </a:lnTo>
                <a:lnTo>
                  <a:pt x="7460695" y="3398556"/>
                </a:lnTo>
                <a:cubicBezTo>
                  <a:pt x="7458532" y="3402904"/>
                  <a:pt x="7458275" y="3406007"/>
                  <a:pt x="7458858" y="3408553"/>
                </a:cubicBezTo>
                <a:lnTo>
                  <a:pt x="7460185" y="3411299"/>
                </a:lnTo>
                <a:lnTo>
                  <a:pt x="7459468" y="3418333"/>
                </a:lnTo>
                <a:lnTo>
                  <a:pt x="7459515" y="3432662"/>
                </a:lnTo>
                <a:lnTo>
                  <a:pt x="7458154" y="3434902"/>
                </a:lnTo>
                <a:lnTo>
                  <a:pt x="7456091" y="3455825"/>
                </a:lnTo>
                <a:cubicBezTo>
                  <a:pt x="7455865" y="3455850"/>
                  <a:pt x="7455638" y="3455877"/>
                  <a:pt x="7455413" y="3455903"/>
                </a:cubicBezTo>
                <a:cubicBezTo>
                  <a:pt x="7453843" y="3456557"/>
                  <a:pt x="7452596" y="3457940"/>
                  <a:pt x="7451989" y="3460886"/>
                </a:cubicBezTo>
                <a:cubicBezTo>
                  <a:pt x="7443388" y="3453296"/>
                  <a:pt x="7447961" y="3461529"/>
                  <a:pt x="7446929" y="3470886"/>
                </a:cubicBezTo>
                <a:cubicBezTo>
                  <a:pt x="7433341" y="3461186"/>
                  <a:pt x="7436171" y="3489615"/>
                  <a:pt x="7427213" y="3491353"/>
                </a:cubicBezTo>
                <a:cubicBezTo>
                  <a:pt x="7426761" y="3498443"/>
                  <a:pt x="7426037" y="3505767"/>
                  <a:pt x="7424990" y="3513143"/>
                </a:cubicBezTo>
                <a:lnTo>
                  <a:pt x="7424186" y="3517424"/>
                </a:lnTo>
                <a:cubicBezTo>
                  <a:pt x="7424132" y="3517438"/>
                  <a:pt x="7424077" y="3517453"/>
                  <a:pt x="7424024" y="3517467"/>
                </a:cubicBezTo>
                <a:cubicBezTo>
                  <a:pt x="7423536" y="3518305"/>
                  <a:pt x="7423153" y="3519678"/>
                  <a:pt x="7422883" y="3521896"/>
                </a:cubicBezTo>
                <a:lnTo>
                  <a:pt x="7422723" y="3525229"/>
                </a:lnTo>
                <a:lnTo>
                  <a:pt x="7421163" y="3533534"/>
                </a:lnTo>
                <a:lnTo>
                  <a:pt x="7419650" y="3536108"/>
                </a:lnTo>
                <a:lnTo>
                  <a:pt x="7417640" y="3536718"/>
                </a:lnTo>
                <a:lnTo>
                  <a:pt x="7417697" y="3537534"/>
                </a:lnTo>
                <a:cubicBezTo>
                  <a:pt x="7419749" y="3544077"/>
                  <a:pt x="7423989" y="3546875"/>
                  <a:pt x="7409814" y="3551598"/>
                </a:cubicBezTo>
                <a:cubicBezTo>
                  <a:pt x="7412376" y="3566128"/>
                  <a:pt x="7404108" y="3567090"/>
                  <a:pt x="7397719" y="3584844"/>
                </a:cubicBezTo>
                <a:cubicBezTo>
                  <a:pt x="7401116" y="3593573"/>
                  <a:pt x="7398130" y="3599358"/>
                  <a:pt x="7393057" y="3604546"/>
                </a:cubicBezTo>
                <a:cubicBezTo>
                  <a:pt x="7391792" y="3622895"/>
                  <a:pt x="7383125" y="3638008"/>
                  <a:pt x="7377811" y="3657793"/>
                </a:cubicBezTo>
                <a:cubicBezTo>
                  <a:pt x="7379886" y="3680874"/>
                  <a:pt x="7366255" y="3689531"/>
                  <a:pt x="7360624" y="3710685"/>
                </a:cubicBezTo>
                <a:cubicBezTo>
                  <a:pt x="7367950" y="3731637"/>
                  <a:pt x="7347999" y="3723947"/>
                  <a:pt x="7341489" y="3734006"/>
                </a:cubicBezTo>
                <a:lnTo>
                  <a:pt x="7340478" y="3737028"/>
                </a:lnTo>
                <a:lnTo>
                  <a:pt x="7340489" y="3745476"/>
                </a:lnTo>
                <a:lnTo>
                  <a:pt x="7340950" y="3748687"/>
                </a:lnTo>
                <a:cubicBezTo>
                  <a:pt x="7341098" y="3750887"/>
                  <a:pt x="7340976" y="3752333"/>
                  <a:pt x="7340653" y="3753314"/>
                </a:cubicBezTo>
                <a:lnTo>
                  <a:pt x="7340500" y="3753419"/>
                </a:lnTo>
                <a:lnTo>
                  <a:pt x="7340506" y="3757774"/>
                </a:lnTo>
                <a:cubicBezTo>
                  <a:pt x="7340847" y="3765147"/>
                  <a:pt x="7341495" y="3772345"/>
                  <a:pt x="7342369" y="3779218"/>
                </a:cubicBezTo>
                <a:cubicBezTo>
                  <a:pt x="7333890" y="3784348"/>
                  <a:pt x="7341949" y="3810090"/>
                  <a:pt x="7326800" y="3806225"/>
                </a:cubicBezTo>
                <a:cubicBezTo>
                  <a:pt x="7327524" y="3815461"/>
                  <a:pt x="7333545" y="3821456"/>
                  <a:pt x="7323686" y="3817640"/>
                </a:cubicBezTo>
                <a:cubicBezTo>
                  <a:pt x="7323637" y="3820659"/>
                  <a:pt x="7322668" y="3822449"/>
                  <a:pt x="7321247" y="3823678"/>
                </a:cubicBezTo>
                <a:lnTo>
                  <a:pt x="7320595" y="3824018"/>
                </a:lnTo>
                <a:lnTo>
                  <a:pt x="7322453" y="3844579"/>
                </a:lnTo>
                <a:lnTo>
                  <a:pt x="7321532" y="3847225"/>
                </a:lnTo>
                <a:lnTo>
                  <a:pt x="7324238" y="3860736"/>
                </a:lnTo>
                <a:lnTo>
                  <a:pt x="7324840" y="3867658"/>
                </a:lnTo>
                <a:lnTo>
                  <a:pt x="7326655" y="3869733"/>
                </a:lnTo>
                <a:cubicBezTo>
                  <a:pt x="7327701" y="3871909"/>
                  <a:pt x="7328023" y="3874942"/>
                  <a:pt x="7326706" y="3879891"/>
                </a:cubicBezTo>
                <a:lnTo>
                  <a:pt x="7326093" y="3881013"/>
                </a:lnTo>
                <a:lnTo>
                  <a:pt x="7328442" y="3889558"/>
                </a:lnTo>
                <a:cubicBezTo>
                  <a:pt x="7329602" y="3892339"/>
                  <a:pt x="7331138" y="3894839"/>
                  <a:pt x="7333203" y="3896924"/>
                </a:cubicBezTo>
                <a:cubicBezTo>
                  <a:pt x="7319795" y="3924445"/>
                  <a:pt x="7328820" y="3952004"/>
                  <a:pt x="7324908" y="3982658"/>
                </a:cubicBezTo>
                <a:cubicBezTo>
                  <a:pt x="7325522" y="4017325"/>
                  <a:pt x="7327874" y="4041416"/>
                  <a:pt x="7327588" y="4064228"/>
                </a:cubicBezTo>
                <a:cubicBezTo>
                  <a:pt x="7328735" y="4074940"/>
                  <a:pt x="7329351" y="4153102"/>
                  <a:pt x="7323186" y="4146664"/>
                </a:cubicBezTo>
                <a:cubicBezTo>
                  <a:pt x="7335189" y="4179829"/>
                  <a:pt x="7318370" y="4199117"/>
                  <a:pt x="7322488" y="4235901"/>
                </a:cubicBezTo>
                <a:cubicBezTo>
                  <a:pt x="7305909" y="4254573"/>
                  <a:pt x="7320783" y="4244884"/>
                  <a:pt x="7316645" y="4265209"/>
                </a:cubicBezTo>
                <a:cubicBezTo>
                  <a:pt x="7331133" y="4260631"/>
                  <a:pt x="7307179" y="4289560"/>
                  <a:pt x="7323069" y="4291857"/>
                </a:cubicBezTo>
                <a:cubicBezTo>
                  <a:pt x="7321814" y="4295483"/>
                  <a:pt x="7320095" y="4298923"/>
                  <a:pt x="7318251" y="4302359"/>
                </a:cubicBezTo>
                <a:lnTo>
                  <a:pt x="7317295" y="4304161"/>
                </a:lnTo>
                <a:lnTo>
                  <a:pt x="7316223" y="4311573"/>
                </a:lnTo>
                <a:lnTo>
                  <a:pt x="7312469" y="4313411"/>
                </a:lnTo>
                <a:lnTo>
                  <a:pt x="7306447" y="4403491"/>
                </a:lnTo>
                <a:cubicBezTo>
                  <a:pt x="7308849" y="4411399"/>
                  <a:pt x="7308497" y="4436984"/>
                  <a:pt x="7303688" y="4442497"/>
                </a:cubicBezTo>
                <a:cubicBezTo>
                  <a:pt x="7302637" y="4447969"/>
                  <a:pt x="7304327" y="4453942"/>
                  <a:pt x="7299181" y="4457128"/>
                </a:cubicBezTo>
                <a:cubicBezTo>
                  <a:pt x="7296154" y="4469016"/>
                  <a:pt x="7289197" y="4496240"/>
                  <a:pt x="7285530" y="4513823"/>
                </a:cubicBezTo>
                <a:cubicBezTo>
                  <a:pt x="7288769" y="4518560"/>
                  <a:pt x="7287100" y="4524649"/>
                  <a:pt x="7284412" y="4532609"/>
                </a:cubicBezTo>
                <a:lnTo>
                  <a:pt x="7282601" y="4540125"/>
                </a:lnTo>
                <a:lnTo>
                  <a:pt x="7291785" y="4563650"/>
                </a:lnTo>
                <a:lnTo>
                  <a:pt x="7284191" y="4636427"/>
                </a:lnTo>
                <a:lnTo>
                  <a:pt x="7292797" y="4672055"/>
                </a:lnTo>
                <a:cubicBezTo>
                  <a:pt x="7294304" y="4686552"/>
                  <a:pt x="7294421" y="4700466"/>
                  <a:pt x="7295425" y="4713953"/>
                </a:cubicBezTo>
                <a:cubicBezTo>
                  <a:pt x="7296104" y="4744441"/>
                  <a:pt x="7280378" y="4723911"/>
                  <a:pt x="7292574" y="4762180"/>
                </a:cubicBezTo>
                <a:cubicBezTo>
                  <a:pt x="7286719" y="4766152"/>
                  <a:pt x="7286266" y="4770971"/>
                  <a:pt x="7288689" y="4779168"/>
                </a:cubicBezTo>
                <a:cubicBezTo>
                  <a:pt x="7288592" y="4793971"/>
                  <a:pt x="7274303" y="4792486"/>
                  <a:pt x="7282355" y="4807636"/>
                </a:cubicBezTo>
                <a:cubicBezTo>
                  <a:pt x="7278556" y="4806204"/>
                  <a:pt x="7277539" y="4813202"/>
                  <a:pt x="7276505" y="4819678"/>
                </a:cubicBezTo>
                <a:lnTo>
                  <a:pt x="7273752" y="4823797"/>
                </a:lnTo>
                <a:lnTo>
                  <a:pt x="7283683" y="4847794"/>
                </a:lnTo>
                <a:cubicBezTo>
                  <a:pt x="7296832" y="4890479"/>
                  <a:pt x="7302379" y="4941877"/>
                  <a:pt x="7311552" y="4978326"/>
                </a:cubicBezTo>
                <a:cubicBezTo>
                  <a:pt x="7284161" y="4998846"/>
                  <a:pt x="7309660" y="4989594"/>
                  <a:pt x="7304880" y="5015024"/>
                </a:cubicBezTo>
                <a:cubicBezTo>
                  <a:pt x="7330355" y="5012307"/>
                  <a:pt x="7291032" y="5044485"/>
                  <a:pt x="7319932" y="5050993"/>
                </a:cubicBezTo>
                <a:cubicBezTo>
                  <a:pt x="7318148" y="5055414"/>
                  <a:pt x="7315506" y="5059493"/>
                  <a:pt x="7312641" y="5063537"/>
                </a:cubicBezTo>
                <a:lnTo>
                  <a:pt x="7311153" y="5065661"/>
                </a:lnTo>
                <a:lnTo>
                  <a:pt x="7310197" y="5075032"/>
                </a:lnTo>
                <a:lnTo>
                  <a:pt x="7303683" y="5076576"/>
                </a:lnTo>
                <a:lnTo>
                  <a:pt x="7297768" y="5089898"/>
                </a:lnTo>
                <a:cubicBezTo>
                  <a:pt x="7296519" y="5095057"/>
                  <a:pt x="7296302" y="5100805"/>
                  <a:pt x="7297750" y="5107454"/>
                </a:cubicBezTo>
                <a:cubicBezTo>
                  <a:pt x="7309447" y="5125240"/>
                  <a:pt x="7295812" y="5147341"/>
                  <a:pt x="7297014" y="5169708"/>
                </a:cubicBezTo>
                <a:lnTo>
                  <a:pt x="7300719" y="5180532"/>
                </a:lnTo>
                <a:lnTo>
                  <a:pt x="7295705" y="5210620"/>
                </a:lnTo>
                <a:lnTo>
                  <a:pt x="7296901" y="5212749"/>
                </a:lnTo>
                <a:cubicBezTo>
                  <a:pt x="7296704" y="5218058"/>
                  <a:pt x="7294377" y="5228574"/>
                  <a:pt x="7294523" y="5242477"/>
                </a:cubicBezTo>
                <a:lnTo>
                  <a:pt x="7297776" y="5296160"/>
                </a:lnTo>
                <a:lnTo>
                  <a:pt x="7289955" y="5304499"/>
                </a:lnTo>
                <a:lnTo>
                  <a:pt x="7286210" y="5305374"/>
                </a:lnTo>
                <a:lnTo>
                  <a:pt x="7286995" y="5320092"/>
                </a:lnTo>
                <a:lnTo>
                  <a:pt x="7281550" y="5330613"/>
                </a:lnTo>
                <a:lnTo>
                  <a:pt x="7285354" y="5340890"/>
                </a:lnTo>
                <a:lnTo>
                  <a:pt x="7281914" y="5354491"/>
                </a:lnTo>
                <a:cubicBezTo>
                  <a:pt x="7280017" y="5359352"/>
                  <a:pt x="7277725" y="5364763"/>
                  <a:pt x="7275918" y="5370917"/>
                </a:cubicBezTo>
                <a:lnTo>
                  <a:pt x="7267655" y="5384350"/>
                </a:lnTo>
                <a:lnTo>
                  <a:pt x="7263791" y="5406610"/>
                </a:lnTo>
                <a:cubicBezTo>
                  <a:pt x="7260956" y="5423841"/>
                  <a:pt x="7257650" y="5440271"/>
                  <a:pt x="7251522" y="5456222"/>
                </a:cubicBezTo>
                <a:cubicBezTo>
                  <a:pt x="7253699" y="5469913"/>
                  <a:pt x="7252931" y="5482529"/>
                  <a:pt x="7242311" y="5493751"/>
                </a:cubicBezTo>
                <a:cubicBezTo>
                  <a:pt x="7236636" y="5529727"/>
                  <a:pt x="7245809" y="5539513"/>
                  <a:pt x="7231835" y="5561252"/>
                </a:cubicBezTo>
                <a:cubicBezTo>
                  <a:pt x="7236311" y="5568555"/>
                  <a:pt x="7238499" y="5573475"/>
                  <a:pt x="7239152" y="5577121"/>
                </a:cubicBezTo>
                <a:cubicBezTo>
                  <a:pt x="7241111" y="5588065"/>
                  <a:pt x="7229268" y="5587525"/>
                  <a:pt x="7224043" y="5605355"/>
                </a:cubicBezTo>
                <a:cubicBezTo>
                  <a:pt x="7216774" y="5624244"/>
                  <a:pt x="7213225" y="5590845"/>
                  <a:pt x="7209229" y="5609118"/>
                </a:cubicBezTo>
                <a:cubicBezTo>
                  <a:pt x="7212098" y="5628346"/>
                  <a:pt x="7194168" y="5628785"/>
                  <a:pt x="7198222" y="5648700"/>
                </a:cubicBezTo>
                <a:cubicBezTo>
                  <a:pt x="7212577" y="5642705"/>
                  <a:pt x="7189541" y="5689259"/>
                  <a:pt x="7201221" y="5689771"/>
                </a:cubicBezTo>
                <a:cubicBezTo>
                  <a:pt x="7181618" y="5708428"/>
                  <a:pt x="7201258" y="5715573"/>
                  <a:pt x="7192555" y="5739098"/>
                </a:cubicBezTo>
                <a:cubicBezTo>
                  <a:pt x="7184486" y="5750478"/>
                  <a:pt x="7182208" y="5758416"/>
                  <a:pt x="7187522" y="5768603"/>
                </a:cubicBezTo>
                <a:cubicBezTo>
                  <a:pt x="7148692" y="5821144"/>
                  <a:pt x="7181577" y="5799065"/>
                  <a:pt x="7162500" y="5846928"/>
                </a:cubicBezTo>
                <a:lnTo>
                  <a:pt x="7160827" y="5850799"/>
                </a:lnTo>
                <a:lnTo>
                  <a:pt x="7163312" y="5866636"/>
                </a:lnTo>
                <a:cubicBezTo>
                  <a:pt x="7163884" y="5867070"/>
                  <a:pt x="7164455" y="5867505"/>
                  <a:pt x="7165029" y="5867939"/>
                </a:cubicBezTo>
                <a:lnTo>
                  <a:pt x="7142501" y="5914339"/>
                </a:lnTo>
                <a:lnTo>
                  <a:pt x="7143151" y="5921221"/>
                </a:lnTo>
                <a:lnTo>
                  <a:pt x="7123808" y="5950546"/>
                </a:lnTo>
                <a:lnTo>
                  <a:pt x="7116299" y="5966186"/>
                </a:lnTo>
                <a:lnTo>
                  <a:pt x="7106117" y="5983669"/>
                </a:lnTo>
                <a:lnTo>
                  <a:pt x="7109622" y="5995569"/>
                </a:lnTo>
                <a:cubicBezTo>
                  <a:pt x="7114727" y="6023526"/>
                  <a:pt x="7092983" y="6067450"/>
                  <a:pt x="7116605" y="6077139"/>
                </a:cubicBezTo>
                <a:cubicBezTo>
                  <a:pt x="7102148" y="6089933"/>
                  <a:pt x="7125501" y="6101908"/>
                  <a:pt x="7127573" y="6115892"/>
                </a:cubicBezTo>
                <a:cubicBezTo>
                  <a:pt x="7118381" y="6127056"/>
                  <a:pt x="7126331" y="6132595"/>
                  <a:pt x="7128098" y="6142737"/>
                </a:cubicBezTo>
                <a:cubicBezTo>
                  <a:pt x="7122429" y="6147329"/>
                  <a:pt x="7122724" y="6155912"/>
                  <a:pt x="7129375" y="6158833"/>
                </a:cubicBezTo>
                <a:cubicBezTo>
                  <a:pt x="7144709" y="6154689"/>
                  <a:pt x="7137060" y="6184499"/>
                  <a:pt x="7147635" y="6186714"/>
                </a:cubicBezTo>
                <a:cubicBezTo>
                  <a:pt x="7149842" y="6204016"/>
                  <a:pt x="7136414" y="6279145"/>
                  <a:pt x="7153343" y="6291871"/>
                </a:cubicBezTo>
                <a:cubicBezTo>
                  <a:pt x="7161381" y="6326852"/>
                  <a:pt x="7134450" y="6377408"/>
                  <a:pt x="7134923" y="6392273"/>
                </a:cubicBezTo>
                <a:cubicBezTo>
                  <a:pt x="7103997" y="6407024"/>
                  <a:pt x="7185503" y="6478818"/>
                  <a:pt x="7187236" y="6541940"/>
                </a:cubicBezTo>
                <a:cubicBezTo>
                  <a:pt x="7184250" y="6550446"/>
                  <a:pt x="7184290" y="6554993"/>
                  <a:pt x="7191340" y="6557275"/>
                </a:cubicBezTo>
                <a:cubicBezTo>
                  <a:pt x="7195412" y="6573685"/>
                  <a:pt x="7202070" y="6606060"/>
                  <a:pt x="7211670" y="6640404"/>
                </a:cubicBezTo>
                <a:cubicBezTo>
                  <a:pt x="7219591" y="6666216"/>
                  <a:pt x="7212698" y="6793331"/>
                  <a:pt x="7221085" y="6827708"/>
                </a:cubicBezTo>
                <a:lnTo>
                  <a:pt x="7227698" y="6857999"/>
                </a:lnTo>
                <a:lnTo>
                  <a:pt x="0" y="6857999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6231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CF03C-4406-AC83-B229-92EB5D480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FF168EE3-9F72-67B5-A5E2-2AF74755F6F5}"/>
              </a:ext>
            </a:extLst>
          </p:cNvPr>
          <p:cNvSpPr txBox="1">
            <a:spLocks/>
          </p:cNvSpPr>
          <p:nvPr/>
        </p:nvSpPr>
        <p:spPr>
          <a:xfrm>
            <a:off x="852792" y="418290"/>
            <a:ext cx="11413788" cy="130350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4400" b="1" dirty="0"/>
              <a:t>MODELO DESARROLLADO: </a:t>
            </a:r>
          </a:p>
          <a:p>
            <a:pPr algn="l"/>
            <a:r>
              <a:rPr lang="es-ES" sz="3600" dirty="0"/>
              <a:t>GRAFO DE LA ALDEA GLOBAL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3F28ED58-457F-E045-1187-DBE49C90E1B3}"/>
              </a:ext>
            </a:extLst>
          </p:cNvPr>
          <p:cNvSpPr txBox="1">
            <a:spLocks/>
          </p:cNvSpPr>
          <p:nvPr/>
        </p:nvSpPr>
        <p:spPr>
          <a:xfrm>
            <a:off x="766322" y="1721796"/>
            <a:ext cx="5225918" cy="487355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400" b="1" dirty="0"/>
              <a:t>Ahora</a:t>
            </a:r>
          </a:p>
          <a:p>
            <a:pPr marL="285750" indent="-285750" algn="l">
              <a:buFontTx/>
              <a:buChar char="-"/>
            </a:pPr>
            <a:r>
              <a:rPr lang="es-ES" sz="1800" dirty="0"/>
              <a:t>Grafo base para probar</a:t>
            </a:r>
          </a:p>
          <a:p>
            <a:pPr algn="l"/>
            <a:endParaRPr lang="es-ES" sz="2400" b="1" dirty="0"/>
          </a:p>
          <a:p>
            <a:pPr algn="l"/>
            <a:r>
              <a:rPr lang="es-ES" sz="2400" b="1" dirty="0"/>
              <a:t>Previsión</a:t>
            </a:r>
          </a:p>
          <a:p>
            <a:pPr marL="285750" indent="-285750" algn="l">
              <a:buFontTx/>
              <a:buChar char="-"/>
            </a:pPr>
            <a:r>
              <a:rPr lang="es-ES" sz="1800" dirty="0"/>
              <a:t>Valorar todos los tipos de grafos existentes para poder modelar la red analógica y social a la vez</a:t>
            </a:r>
          </a:p>
          <a:p>
            <a:pPr marL="285750" indent="-285750" algn="l">
              <a:buFontTx/>
              <a:buChar char="-"/>
            </a:pPr>
            <a:r>
              <a:rPr lang="es-ES" sz="1800" dirty="0"/>
              <a:t>La red tiene que cumplir ciertos criterios:</a:t>
            </a:r>
          </a:p>
          <a:p>
            <a:pPr marL="742950" lvl="1" indent="-285750">
              <a:buFontTx/>
              <a:buChar char="-"/>
            </a:pPr>
            <a:endParaRPr lang="es-ES" sz="100" dirty="0"/>
          </a:p>
          <a:p>
            <a:pPr marL="742950" lvl="1" indent="-285750">
              <a:buFontTx/>
              <a:buChar char="-"/>
            </a:pPr>
            <a:endParaRPr lang="es-ES" sz="100" dirty="0"/>
          </a:p>
          <a:p>
            <a:pPr marL="742950" lvl="1" indent="-285750">
              <a:buFontTx/>
              <a:buChar char="-"/>
            </a:pPr>
            <a:endParaRPr lang="es-ES" sz="100" dirty="0"/>
          </a:p>
          <a:p>
            <a:pPr marL="742950" lvl="1" indent="-285750">
              <a:buFontTx/>
              <a:buChar char="-"/>
            </a:pPr>
            <a:endParaRPr lang="es-ES" sz="100" dirty="0"/>
          </a:p>
          <a:p>
            <a:pPr marL="742950" lvl="1" indent="-285750">
              <a:buFontTx/>
              <a:buChar char="-"/>
            </a:pPr>
            <a:endParaRPr lang="es-ES" sz="100" dirty="0"/>
          </a:p>
          <a:p>
            <a:pPr marL="742950" lvl="1" indent="-285750">
              <a:buFontTx/>
              <a:buChar char="-"/>
            </a:pPr>
            <a:endParaRPr lang="es-ES" sz="100" dirty="0"/>
          </a:p>
          <a:p>
            <a:pPr marL="742950" lvl="1" indent="-285750">
              <a:buFontTx/>
              <a:buChar char="-"/>
            </a:pPr>
            <a:endParaRPr lang="es-ES" sz="100" dirty="0"/>
          </a:p>
          <a:p>
            <a:pPr marL="742950" lvl="1" indent="-285750">
              <a:buFontTx/>
              <a:buChar char="-"/>
            </a:pPr>
            <a:endParaRPr lang="es-ES" sz="100" dirty="0"/>
          </a:p>
          <a:p>
            <a:pPr marL="742950" lvl="1" indent="-285750">
              <a:buFontTx/>
              <a:buChar char="-"/>
            </a:pPr>
            <a:endParaRPr lang="es-ES" sz="100" dirty="0"/>
          </a:p>
          <a:p>
            <a:pPr algn="l"/>
            <a:r>
              <a:rPr lang="es-ES" sz="1800" dirty="0"/>
              <a:t>	- Teoría 6 grados separación</a:t>
            </a:r>
          </a:p>
          <a:p>
            <a:pPr algn="l"/>
            <a:r>
              <a:rPr lang="es-ES" sz="1800" dirty="0"/>
              <a:t>	- </a:t>
            </a:r>
            <a:r>
              <a:rPr lang="es-ES" sz="1800" dirty="0" err="1"/>
              <a:t>Clustering</a:t>
            </a:r>
            <a:r>
              <a:rPr lang="es-ES" sz="1800" dirty="0"/>
              <a:t> (red analógica)</a:t>
            </a:r>
          </a:p>
          <a:p>
            <a:pPr algn="l"/>
            <a:r>
              <a:rPr lang="es-ES" sz="1800" dirty="0"/>
              <a:t>	- Scale-free (redes sociales)</a:t>
            </a:r>
          </a:p>
          <a:p>
            <a:pPr algn="l"/>
            <a:r>
              <a:rPr lang="es-ES" sz="1800" dirty="0"/>
              <a:t>	- </a:t>
            </a:r>
            <a:r>
              <a:rPr lang="es-ES" sz="1800" dirty="0" err="1"/>
              <a:t>Homofilia</a:t>
            </a:r>
            <a:r>
              <a:rPr lang="es-ES" sz="1800" dirty="0"/>
              <a:t> </a:t>
            </a:r>
          </a:p>
          <a:p>
            <a:pPr algn="l"/>
            <a:r>
              <a:rPr lang="es-ES" sz="1800" dirty="0"/>
              <a:t>- Importar datos de grafos de confianza SNAP</a:t>
            </a:r>
          </a:p>
          <a:p>
            <a:pPr algn="l"/>
            <a:endParaRPr lang="es-ES" sz="2400" b="1" dirty="0"/>
          </a:p>
          <a:p>
            <a:pPr algn="l"/>
            <a:endParaRPr lang="es-ES" sz="2400" b="1" dirty="0"/>
          </a:p>
          <a:p>
            <a:pPr algn="l"/>
            <a:endParaRPr lang="es-ES" sz="1800" dirty="0"/>
          </a:p>
        </p:txBody>
      </p:sp>
      <p:pic>
        <p:nvPicPr>
          <p:cNvPr id="6146" name="Picture 2" descr="Fraude crediticio con la Teoría de Grafos: una estrategia innovadora - Open  Hub News">
            <a:extLst>
              <a:ext uri="{FF2B5EF4-FFF2-40B4-BE49-F238E27FC236}">
                <a16:creationId xmlns:a16="http://schemas.microsoft.com/office/drawing/2014/main" id="{FD2A2E3A-8EE2-A581-E3C7-EE8AD2B1F2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297" y="2101175"/>
            <a:ext cx="5610225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0967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347017AE-A1F0-B928-E099-9E362CC6AC34}"/>
              </a:ext>
            </a:extLst>
          </p:cNvPr>
          <p:cNvSpPr txBox="1">
            <a:spLocks/>
          </p:cNvSpPr>
          <p:nvPr/>
        </p:nvSpPr>
        <p:spPr>
          <a:xfrm>
            <a:off x="778212" y="418289"/>
            <a:ext cx="10958263" cy="135022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4400" b="1" dirty="0"/>
              <a:t>MODELO DESARROLLADO: </a:t>
            </a:r>
          </a:p>
          <a:p>
            <a:pPr algn="l"/>
            <a:r>
              <a:rPr lang="es-ES" sz="3600" dirty="0"/>
              <a:t>AGENTES</a:t>
            </a:r>
          </a:p>
        </p:txBody>
      </p:sp>
      <p:pic>
        <p:nvPicPr>
          <p:cNvPr id="5122" name="Picture 2" descr="Intelligent Agent - MSMK">
            <a:extLst>
              <a:ext uri="{FF2B5EF4-FFF2-40B4-BE49-F238E27FC236}">
                <a16:creationId xmlns:a16="http://schemas.microsoft.com/office/drawing/2014/main" id="{3835390B-6AF9-83F3-B82E-F46D195EA8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1166" y="2639905"/>
            <a:ext cx="5622257" cy="2700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D1AF31BF-38F3-37CB-A286-0502B8A9B513}"/>
              </a:ext>
            </a:extLst>
          </p:cNvPr>
          <p:cNvSpPr txBox="1">
            <a:spLocks/>
          </p:cNvSpPr>
          <p:nvPr/>
        </p:nvSpPr>
        <p:spPr>
          <a:xfrm>
            <a:off x="328577" y="2142649"/>
            <a:ext cx="5622256" cy="384616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400" b="1" dirty="0"/>
              <a:t>Ahora</a:t>
            </a:r>
          </a:p>
          <a:p>
            <a:pPr marL="285750" indent="-285750" algn="l">
              <a:buFontTx/>
              <a:buChar char="-"/>
            </a:pPr>
            <a:r>
              <a:rPr lang="es-ES" sz="1800" dirty="0"/>
              <a:t>En t enviar mensaje con probabilidad p</a:t>
            </a:r>
          </a:p>
          <a:p>
            <a:pPr marL="285750" indent="-285750" algn="l">
              <a:buFontTx/>
              <a:buChar char="-"/>
            </a:pPr>
            <a:r>
              <a:rPr lang="es-ES" sz="1800" dirty="0"/>
              <a:t>Si envía mensaje, se envía aleatoriamente a alguno de sus contactos</a:t>
            </a:r>
          </a:p>
          <a:p>
            <a:pPr algn="l"/>
            <a:endParaRPr lang="es-ES" sz="2400" b="1" dirty="0"/>
          </a:p>
          <a:p>
            <a:pPr algn="l"/>
            <a:r>
              <a:rPr lang="es-ES" sz="2400" b="1" dirty="0"/>
              <a:t>Previsión</a:t>
            </a:r>
          </a:p>
          <a:p>
            <a:pPr marL="285750" indent="-285750" algn="l">
              <a:buFontTx/>
              <a:buChar char="-"/>
            </a:pPr>
            <a:r>
              <a:rPr lang="es-ES" sz="1800" dirty="0"/>
              <a:t>Bucle OODA (Observar – Orientar – Decidir – Actuar)</a:t>
            </a:r>
          </a:p>
          <a:p>
            <a:pPr marL="285750" indent="-285750" algn="l">
              <a:buFontTx/>
              <a:buChar char="-"/>
            </a:pPr>
            <a:r>
              <a:rPr lang="es-ES" sz="1800" dirty="0"/>
              <a:t>No solo ‘ataques’, también ‘defensas’ cognitivas. Es un entorno continuo</a:t>
            </a:r>
          </a:p>
          <a:p>
            <a:pPr marL="285750" indent="-285750" algn="l">
              <a:buFontTx/>
              <a:buChar char="-"/>
            </a:pPr>
            <a:r>
              <a:rPr lang="es-ES" sz="1800" dirty="0"/>
              <a:t>Valorar cómo el bucle OODA de atacantes influye en el de los defensores, y viceversa. Superioridad cognitiva.</a:t>
            </a:r>
          </a:p>
          <a:p>
            <a:pPr marL="285750" indent="-285750" algn="l">
              <a:buFontTx/>
              <a:buChar char="-"/>
            </a:pPr>
            <a:r>
              <a:rPr lang="es-ES" sz="1800" dirty="0"/>
              <a:t>Esto implica añadir un ‘cerebro’ más sofisticado y memoria</a:t>
            </a:r>
          </a:p>
          <a:p>
            <a:pPr algn="l"/>
            <a:endParaRPr lang="es-ES" sz="1800" dirty="0"/>
          </a:p>
        </p:txBody>
      </p:sp>
    </p:spTree>
    <p:extLst>
      <p:ext uri="{BB962C8B-B14F-4D97-AF65-F5344CB8AC3E}">
        <p14:creationId xmlns:p14="http://schemas.microsoft.com/office/powerpoint/2010/main" val="4136622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9A5D2D84-AFFC-7E5C-8C1A-149922737EA9}"/>
              </a:ext>
            </a:extLst>
          </p:cNvPr>
          <p:cNvSpPr txBox="1">
            <a:spLocks/>
          </p:cNvSpPr>
          <p:nvPr/>
        </p:nvSpPr>
        <p:spPr>
          <a:xfrm>
            <a:off x="371094" y="841248"/>
            <a:ext cx="3438906" cy="15590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600"/>
              </a:spcAft>
            </a:pPr>
            <a:r>
              <a:rPr lang="en-US" sz="3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RESULTADOS: </a:t>
            </a:r>
          </a:p>
          <a:p>
            <a:pPr algn="l">
              <a:spcAft>
                <a:spcPts val="600"/>
              </a:spcAft>
            </a:pPr>
            <a:r>
              <a:rPr lang="en-US" sz="2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MODELO COMPUTACIONAL MUY BÁSICO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8E55A620-CC7D-D15C-2EC4-78ACD7DA7E7C}"/>
              </a:ext>
            </a:extLst>
          </p:cNvPr>
          <p:cNvSpPr txBox="1">
            <a:spLocks/>
          </p:cNvSpPr>
          <p:nvPr/>
        </p:nvSpPr>
        <p:spPr>
          <a:xfrm>
            <a:off x="371094" y="2718054"/>
            <a:ext cx="3438906" cy="3207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2860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 err="1">
                <a:latin typeface="+mn-lt"/>
                <a:ea typeface="+mn-ea"/>
                <a:cs typeface="+mn-cs"/>
              </a:rPr>
              <a:t>Simulación</a:t>
            </a:r>
            <a:r>
              <a:rPr lang="en-US" sz="1700" dirty="0">
                <a:latin typeface="+mn-lt"/>
                <a:ea typeface="+mn-ea"/>
                <a:cs typeface="+mn-cs"/>
              </a:rPr>
              <a:t> con t pasos. </a:t>
            </a:r>
            <a:r>
              <a:rPr lang="en-US" sz="1700" dirty="0" err="1">
                <a:latin typeface="+mn-lt"/>
                <a:ea typeface="+mn-ea"/>
                <a:cs typeface="+mn-cs"/>
              </a:rPr>
              <a:t>Ahora</a:t>
            </a:r>
            <a:r>
              <a:rPr lang="en-US" sz="1700" dirty="0">
                <a:latin typeface="+mn-lt"/>
                <a:ea typeface="+mn-ea"/>
                <a:cs typeface="+mn-cs"/>
              </a:rPr>
              <a:t> </a:t>
            </a:r>
            <a:r>
              <a:rPr lang="en-US" sz="1700" dirty="0" err="1">
                <a:latin typeface="+mn-lt"/>
                <a:ea typeface="+mn-ea"/>
                <a:cs typeface="+mn-cs"/>
              </a:rPr>
              <a:t>independientes</a:t>
            </a:r>
            <a:r>
              <a:rPr lang="en-US" sz="1700" dirty="0">
                <a:latin typeface="+mn-lt"/>
                <a:ea typeface="+mn-ea"/>
                <a:cs typeface="+mn-cs"/>
              </a:rPr>
              <a:t> entre </a:t>
            </a:r>
            <a:r>
              <a:rPr lang="en-US" sz="1700" dirty="0" err="1">
                <a:latin typeface="+mn-lt"/>
                <a:ea typeface="+mn-ea"/>
                <a:cs typeface="+mn-cs"/>
              </a:rPr>
              <a:t>sí</a:t>
            </a:r>
            <a:endParaRPr lang="en-US" sz="1700" dirty="0">
              <a:latin typeface="+mn-lt"/>
              <a:ea typeface="+mn-ea"/>
              <a:cs typeface="+mn-cs"/>
            </a:endParaRPr>
          </a:p>
          <a:p>
            <a:pPr marL="285750" indent="-22860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>
                <a:latin typeface="+mn-lt"/>
                <a:ea typeface="+mn-ea"/>
                <a:cs typeface="+mn-cs"/>
              </a:rPr>
              <a:t>Nodos </a:t>
            </a:r>
            <a:r>
              <a:rPr lang="en-US" sz="1700" dirty="0" err="1">
                <a:latin typeface="+mn-lt"/>
                <a:ea typeface="+mn-ea"/>
                <a:cs typeface="+mn-cs"/>
              </a:rPr>
              <a:t>emisores</a:t>
            </a:r>
            <a:r>
              <a:rPr lang="en-US" sz="1700" dirty="0">
                <a:latin typeface="+mn-lt"/>
                <a:ea typeface="+mn-ea"/>
                <a:cs typeface="+mn-cs"/>
              </a:rPr>
              <a:t> y </a:t>
            </a:r>
            <a:r>
              <a:rPr lang="en-US" sz="1700" dirty="0" err="1">
                <a:latin typeface="+mn-lt"/>
                <a:ea typeface="+mn-ea"/>
                <a:cs typeface="+mn-cs"/>
              </a:rPr>
              <a:t>nodos</a:t>
            </a:r>
            <a:r>
              <a:rPr lang="en-US" sz="1700" dirty="0">
                <a:latin typeface="+mn-lt"/>
                <a:ea typeface="+mn-ea"/>
                <a:cs typeface="+mn-cs"/>
              </a:rPr>
              <a:t> receptors de </a:t>
            </a:r>
            <a:r>
              <a:rPr lang="en-US" sz="1700" dirty="0" err="1">
                <a:latin typeface="+mn-lt"/>
                <a:ea typeface="+mn-ea"/>
                <a:cs typeface="+mn-cs"/>
              </a:rPr>
              <a:t>mensajes</a:t>
            </a:r>
            <a:endParaRPr lang="en-US" sz="1700" dirty="0">
              <a:latin typeface="+mn-lt"/>
              <a:ea typeface="+mn-ea"/>
              <a:cs typeface="+mn-cs"/>
            </a:endParaRPr>
          </a:p>
          <a:p>
            <a:pPr marL="285750" indent="-22860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>
                <a:latin typeface="+mn-lt"/>
                <a:ea typeface="+mn-ea"/>
                <a:cs typeface="+mn-cs"/>
              </a:rPr>
              <a:t>Se </a:t>
            </a:r>
            <a:r>
              <a:rPr lang="en-US" sz="1700" dirty="0" err="1">
                <a:latin typeface="+mn-lt"/>
                <a:ea typeface="+mn-ea"/>
                <a:cs typeface="+mn-cs"/>
              </a:rPr>
              <a:t>dispara</a:t>
            </a:r>
            <a:r>
              <a:rPr lang="en-US" sz="1700" dirty="0">
                <a:latin typeface="+mn-lt"/>
                <a:ea typeface="+mn-ea"/>
                <a:cs typeface="+mn-cs"/>
              </a:rPr>
              <a:t> </a:t>
            </a:r>
            <a:r>
              <a:rPr lang="en-US" sz="1700" dirty="0" err="1">
                <a:latin typeface="+mn-lt"/>
                <a:ea typeface="+mn-ea"/>
                <a:cs typeface="+mn-cs"/>
              </a:rPr>
              <a:t>mensaje</a:t>
            </a:r>
            <a:r>
              <a:rPr lang="en-US" sz="1700" dirty="0">
                <a:latin typeface="+mn-lt"/>
                <a:ea typeface="+mn-ea"/>
                <a:cs typeface="+mn-cs"/>
              </a:rPr>
              <a:t> con </a:t>
            </a:r>
            <a:r>
              <a:rPr lang="en-US" sz="1700" dirty="0" err="1">
                <a:latin typeface="+mn-lt"/>
                <a:ea typeface="+mn-ea"/>
                <a:cs typeface="+mn-cs"/>
              </a:rPr>
              <a:t>probabilidad</a:t>
            </a:r>
            <a:r>
              <a:rPr lang="en-US" sz="1700" dirty="0">
                <a:latin typeface="+mn-lt"/>
                <a:ea typeface="+mn-ea"/>
                <a:cs typeface="+mn-cs"/>
              </a:rPr>
              <a:t> p</a:t>
            </a:r>
          </a:p>
          <a:p>
            <a:pPr marL="285750" indent="-22860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>
                <a:latin typeface="+mn-lt"/>
                <a:ea typeface="+mn-ea"/>
                <a:cs typeface="+mn-cs"/>
              </a:rPr>
              <a:t>Se </a:t>
            </a:r>
            <a:r>
              <a:rPr lang="en-US" sz="1700" dirty="0" err="1">
                <a:latin typeface="+mn-lt"/>
                <a:ea typeface="+mn-ea"/>
                <a:cs typeface="+mn-cs"/>
              </a:rPr>
              <a:t>recogen</a:t>
            </a:r>
            <a:r>
              <a:rPr lang="en-US" sz="1700" dirty="0">
                <a:latin typeface="+mn-lt"/>
                <a:ea typeface="+mn-ea"/>
                <a:cs typeface="+mn-cs"/>
              </a:rPr>
              <a:t> </a:t>
            </a:r>
            <a:r>
              <a:rPr lang="en-US" sz="1700" dirty="0" err="1">
                <a:latin typeface="+mn-lt"/>
                <a:ea typeface="+mn-ea"/>
                <a:cs typeface="+mn-cs"/>
              </a:rPr>
              <a:t>métricas</a:t>
            </a:r>
            <a:r>
              <a:rPr lang="en-US" sz="1700" dirty="0">
                <a:latin typeface="+mn-lt"/>
                <a:ea typeface="+mn-ea"/>
                <a:cs typeface="+mn-cs"/>
              </a:rPr>
              <a:t> de </a:t>
            </a:r>
            <a:r>
              <a:rPr lang="en-US" sz="1700" dirty="0" err="1">
                <a:latin typeface="+mn-lt"/>
                <a:ea typeface="+mn-ea"/>
                <a:cs typeface="+mn-cs"/>
              </a:rPr>
              <a:t>todo</a:t>
            </a:r>
            <a:r>
              <a:rPr lang="en-US" sz="1700" dirty="0">
                <a:latin typeface="+mn-lt"/>
                <a:ea typeface="+mn-ea"/>
                <a:cs typeface="+mn-cs"/>
              </a:rPr>
              <a:t> lo </a:t>
            </a:r>
            <a:r>
              <a:rPr lang="en-US" sz="1700" dirty="0" err="1">
                <a:latin typeface="+mn-lt"/>
                <a:ea typeface="+mn-ea"/>
                <a:cs typeface="+mn-cs"/>
              </a:rPr>
              <a:t>simulado</a:t>
            </a:r>
            <a:endParaRPr lang="en-US" sz="1700" dirty="0">
              <a:latin typeface="+mn-lt"/>
              <a:ea typeface="+mn-ea"/>
              <a:cs typeface="+mn-cs"/>
            </a:endParaRPr>
          </a:p>
          <a:p>
            <a:pPr marL="285750" indent="-228600" algn="l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>
              <a:latin typeface="+mn-lt"/>
              <a:ea typeface="+mn-ea"/>
              <a:cs typeface="+mn-cs"/>
            </a:endParaRPr>
          </a:p>
          <a:p>
            <a:pPr marL="285750" indent="-228600" algn="l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>
              <a:latin typeface="+mn-lt"/>
              <a:ea typeface="+mn-ea"/>
              <a:cs typeface="+mn-cs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E8A9A89-46E7-796A-9811-E4D41F5396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4633" y="841248"/>
            <a:ext cx="6595110" cy="5276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789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8ABA9-1D52-6E1B-1E27-38A1347ED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A20E989B-172D-DC52-EE31-6EDAD396F4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574" y="2275088"/>
            <a:ext cx="2742168" cy="323140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0932A2BA-F345-6D47-14FE-84B52D17CC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6605" y="2165095"/>
            <a:ext cx="4535352" cy="3341402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1B089E37-2AF8-B219-CB6E-435DA1E780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3533" y="2316652"/>
            <a:ext cx="3959893" cy="2805789"/>
          </a:xfrm>
          <a:prstGeom prst="rect">
            <a:avLst/>
          </a:prstGeom>
        </p:spPr>
      </p:pic>
      <p:sp>
        <p:nvSpPr>
          <p:cNvPr id="15" name="Título 1">
            <a:extLst>
              <a:ext uri="{FF2B5EF4-FFF2-40B4-BE49-F238E27FC236}">
                <a16:creationId xmlns:a16="http://schemas.microsoft.com/office/drawing/2014/main" id="{1E495690-FA0A-0036-2131-AA16FBBC17E2}"/>
              </a:ext>
            </a:extLst>
          </p:cNvPr>
          <p:cNvSpPr txBox="1">
            <a:spLocks/>
          </p:cNvSpPr>
          <p:nvPr/>
        </p:nvSpPr>
        <p:spPr>
          <a:xfrm>
            <a:off x="778212" y="418289"/>
            <a:ext cx="10958263" cy="135022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4400" b="1" dirty="0"/>
              <a:t>ESTADO ACTUAL: </a:t>
            </a:r>
          </a:p>
          <a:p>
            <a:pPr algn="l"/>
            <a:r>
              <a:rPr lang="es-ES" sz="3600" dirty="0"/>
              <a:t>TAREAS PENDIENTES</a:t>
            </a:r>
          </a:p>
        </p:txBody>
      </p:sp>
    </p:spTree>
    <p:extLst>
      <p:ext uri="{BB962C8B-B14F-4D97-AF65-F5344CB8AC3E}">
        <p14:creationId xmlns:p14="http://schemas.microsoft.com/office/powerpoint/2010/main" val="4251903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2147</TotalTime>
  <Words>285</Words>
  <Application>Microsoft Office PowerPoint</Application>
  <PresentationFormat>Panorámica</PresentationFormat>
  <Paragraphs>55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Tema de Office</vt:lpstr>
      <vt:lpstr>Interacciones y Dinámicas en la Aldea Global: Modelado Matemático y Psicosocial de la Guerra Cognitiva en Redes Complejas </vt:lpstr>
      <vt:lpstr>OBJETIVOS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Jorge Enebral Alonso</dc:creator>
  <cp:lastModifiedBy>Jorge Enebral Alonso</cp:lastModifiedBy>
  <cp:revision>7</cp:revision>
  <dcterms:created xsi:type="dcterms:W3CDTF">2026-02-09T01:03:27Z</dcterms:created>
  <dcterms:modified xsi:type="dcterms:W3CDTF">2026-04-27T17:46:51Z</dcterms:modified>
</cp:coreProperties>
</file>